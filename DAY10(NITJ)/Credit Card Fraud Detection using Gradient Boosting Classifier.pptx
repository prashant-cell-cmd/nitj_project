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3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11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18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4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87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16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69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300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139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4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3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9FCF307-EA3B-4F95-8B7C-AC9D3706E1E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66C8737-415C-4852-A573-4BB42533D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1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4CDA-1518-335B-BA22-0E72B8889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295" y="792480"/>
            <a:ext cx="9367410" cy="2308840"/>
          </a:xfrm>
        </p:spPr>
        <p:txBody>
          <a:bodyPr>
            <a:normAutofit/>
          </a:bodyPr>
          <a:lstStyle/>
          <a:p>
            <a:r>
              <a:rPr lang="en-GB" sz="4400" dirty="0"/>
              <a:t>Credit Card Fraud Detection using Gradient Boosting Classifier and AdaBoost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65F7C-1AFD-6A84-337A-F1CF38F5BE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Prepared by:</a:t>
            </a:r>
            <a:r>
              <a:rPr lang="en-GB" dirty="0"/>
              <a:t> Prashant Kumar</a:t>
            </a:r>
            <a:br>
              <a:rPr lang="en-GB" dirty="0"/>
            </a:br>
            <a:r>
              <a:rPr lang="en-GB" b="1" dirty="0"/>
              <a:t>Department:</a:t>
            </a:r>
            <a:r>
              <a:rPr lang="en-GB" dirty="0"/>
              <a:t> Computer Science &amp;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469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2336-9F94-5065-20AC-9A26A0DE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7C5F-C8C0-1E98-5089-EFEB7A7FE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Rapid growth of online and card-based transactions has increased fraud risks</a:t>
            </a:r>
          </a:p>
          <a:p>
            <a:r>
              <a:rPr lang="en-GB" dirty="0"/>
              <a:t>Credit card fraud leads to major financial losses and trust issues</a:t>
            </a:r>
          </a:p>
          <a:p>
            <a:r>
              <a:rPr lang="en-GB" dirty="0"/>
              <a:t>Traditional rule-based systems are inefficient for modern fraud patterns</a:t>
            </a:r>
          </a:p>
          <a:p>
            <a:r>
              <a:rPr lang="en-GB" dirty="0"/>
              <a:t>Machine learning enables automated, accurate, and scalable fraud detection</a:t>
            </a:r>
          </a:p>
          <a:p>
            <a:r>
              <a:rPr lang="en-GB" b="1" dirty="0"/>
              <a:t>Objective:</a:t>
            </a:r>
            <a:br>
              <a:rPr lang="en-GB" dirty="0"/>
            </a:br>
            <a:r>
              <a:rPr lang="en-GB" dirty="0"/>
              <a:t>To detect fraudulent transactions using ensemble learning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6111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A949-CE35-C746-79B1-442AF803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A21065-A7D1-4531-57AA-D5C3B43D7E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detection is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 problem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 are classified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Legitimate 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Fraudulent 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imbalanced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and hidden fraud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high recall to detect rare fraud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7533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C813-15A2-5FAA-9FB1-03144AC83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8E7BA-E58F-EBB5-9DE5-9ED1D07EF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 contains real-world credit card transactions</a:t>
            </a:r>
          </a:p>
          <a:p>
            <a:r>
              <a:rPr lang="en-IN" dirty="0"/>
              <a:t>Features:</a:t>
            </a:r>
          </a:p>
          <a:p>
            <a:pPr lvl="1"/>
            <a:r>
              <a:rPr lang="en-IN" dirty="0"/>
              <a:t>Numerical transaction attributes</a:t>
            </a:r>
          </a:p>
          <a:p>
            <a:pPr lvl="1"/>
            <a:r>
              <a:rPr lang="en-IN" dirty="0"/>
              <a:t>Anonymized for privacy protection</a:t>
            </a:r>
          </a:p>
          <a:p>
            <a:r>
              <a:rPr lang="en-IN" dirty="0"/>
              <a:t>Target column:</a:t>
            </a:r>
          </a:p>
          <a:p>
            <a:pPr lvl="1"/>
            <a:r>
              <a:rPr lang="en-IN" dirty="0"/>
              <a:t>Class = 0 → Normal transaction</a:t>
            </a:r>
          </a:p>
          <a:p>
            <a:pPr lvl="1"/>
            <a:r>
              <a:rPr lang="en-IN" dirty="0"/>
              <a:t>Class = 1 → Fraudulent transaction</a:t>
            </a:r>
          </a:p>
          <a:p>
            <a:r>
              <a:rPr lang="en-IN" b="1" dirty="0"/>
              <a:t>Important Observation:</a:t>
            </a:r>
            <a:br>
              <a:rPr lang="en-IN" dirty="0"/>
            </a:br>
            <a:r>
              <a:rPr lang="en-IN" dirty="0"/>
              <a:t>Fraudulent transactions are very rare compared to normal transactions.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496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3E22-6B0F-2D60-B0EE-6585A20D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4FBE02-C393-E8A7-70AA-870BCA1117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Each transaction is represented as a feature vector: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  <m:r>
                      <a:rPr lang="en-IN"/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3</m:t>
                            </m:r>
                          </m:sub>
                        </m:sSub>
                      </m:e>
                      <m:e>
                        <m:r>
                          <a:rPr lang="ar-AE"/>
                          <m:t>.</m:t>
                        </m:r>
                      </m:e>
                      <m:e>
                        <m:r>
                          <a:rPr lang="ar-AE"/>
                          <m:t>..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 i="1"/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The model learns a function: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𝑓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𝑋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𝑃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Fraud</m:t>
                        </m:r>
                        <m:r>
                          <a:rPr lang="en-IN"/>
                          <m:t>∣</m:t>
                        </m:r>
                        <m:r>
                          <a:rPr lang="en-IN" i="1"/>
                          <m:t>𝑋</m:t>
                        </m:r>
                      </m:e>
                    </m:d>
                  </m:oMath>
                </a14:m>
                <a:endParaRPr lang="ar-AE" b="0" dirty="0"/>
              </a:p>
              <a:p>
                <a:r>
                  <a:rPr lang="en-IN" dirty="0"/>
                  <a:t>Output is a probability score between 0 and 1</a:t>
                </a:r>
              </a:p>
              <a:p>
                <a:r>
                  <a:rPr lang="en-IN" dirty="0"/>
                  <a:t>Higher probability indicates higher fraud risk</a:t>
                </a:r>
              </a:p>
              <a:p>
                <a:r>
                  <a:rPr lang="en-IN" dirty="0"/>
                  <a:t>This probabilistic learning helps in accurate fraud identification.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4FBE02-C393-E8A7-70AA-870BCA111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805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AE57-6959-2DEC-E4F6-7707C903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Boosting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748DB-5270-A049-2CAB-BD8F9853A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Ensemble learning technique based on decision trees</a:t>
            </a:r>
          </a:p>
          <a:p>
            <a:r>
              <a:rPr lang="en-GB" dirty="0"/>
              <a:t>Trees are built sequentially</a:t>
            </a:r>
          </a:p>
          <a:p>
            <a:r>
              <a:rPr lang="en-GB" dirty="0"/>
              <a:t>Each new tree corrects errors made by previous trees</a:t>
            </a:r>
          </a:p>
          <a:p>
            <a:r>
              <a:rPr lang="en-GB" dirty="0"/>
              <a:t>Optimizes a loss function (log loss) to improve predictions</a:t>
            </a:r>
          </a:p>
          <a:p>
            <a:r>
              <a:rPr lang="en-GB" b="1" dirty="0"/>
              <a:t>Advantages:</a:t>
            </a:r>
            <a:endParaRPr lang="en-GB" dirty="0"/>
          </a:p>
          <a:p>
            <a:r>
              <a:rPr lang="en-GB" dirty="0"/>
              <a:t>High accuracy</a:t>
            </a:r>
          </a:p>
          <a:p>
            <a:r>
              <a:rPr lang="en-GB" dirty="0"/>
              <a:t>Handles complex non-linear patterns</a:t>
            </a:r>
          </a:p>
          <a:p>
            <a:r>
              <a:rPr lang="en-GB" dirty="0"/>
              <a:t>Strong performance on structured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841052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A7AF-85D3-DA71-5F40-22BB38AA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AdaBoost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93AF9-081D-2E4A-F5B4-BEAABD836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Adaptive Boosting algorithm</a:t>
            </a:r>
          </a:p>
          <a:p>
            <a:r>
              <a:rPr lang="en-GB" dirty="0"/>
              <a:t>Focuses more on misclassified data points</a:t>
            </a:r>
          </a:p>
          <a:p>
            <a:r>
              <a:rPr lang="en-GB" dirty="0"/>
              <a:t>Assigns higher weights to difficult transactions</a:t>
            </a:r>
          </a:p>
          <a:p>
            <a:r>
              <a:rPr lang="en-GB" dirty="0"/>
              <a:t>Combines multiple weak learners into a strong model</a:t>
            </a:r>
          </a:p>
          <a:p>
            <a:r>
              <a:rPr lang="en-GB" b="1" dirty="0"/>
              <a:t>Advantages:</a:t>
            </a:r>
            <a:endParaRPr lang="en-GB" dirty="0"/>
          </a:p>
          <a:p>
            <a:r>
              <a:rPr lang="en-GB" dirty="0"/>
              <a:t>Simple and efficient</a:t>
            </a:r>
          </a:p>
          <a:p>
            <a:r>
              <a:rPr lang="en-GB" dirty="0"/>
              <a:t>Improves classification of rare fraud cases</a:t>
            </a:r>
          </a:p>
          <a:p>
            <a:r>
              <a:rPr lang="en-GB" dirty="0"/>
              <a:t>Reduces bias in predictions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6566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D350-871F-196B-E296-E469814E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8BB2F-72FA-9A3C-9BEF-2BDD2D4E3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Dataset split into training and testing sets</a:t>
            </a:r>
          </a:p>
          <a:p>
            <a:r>
              <a:rPr lang="en-IN" dirty="0"/>
              <a:t>Models trained:</a:t>
            </a:r>
          </a:p>
          <a:p>
            <a:pPr lvl="1"/>
            <a:r>
              <a:rPr lang="en-IN" dirty="0"/>
              <a:t>Gradient Boosting Classifier</a:t>
            </a:r>
          </a:p>
          <a:p>
            <a:pPr lvl="1"/>
            <a:r>
              <a:rPr lang="en-IN" dirty="0"/>
              <a:t>AdaBoost Classifier</a:t>
            </a:r>
          </a:p>
          <a:p>
            <a:r>
              <a:rPr lang="en-IN" dirty="0"/>
              <a:t>Evaluation metrics:</a:t>
            </a:r>
          </a:p>
          <a:p>
            <a:pPr lvl="1"/>
            <a:r>
              <a:rPr lang="en-IN" dirty="0"/>
              <a:t>Precision</a:t>
            </a:r>
          </a:p>
          <a:p>
            <a:pPr lvl="1"/>
            <a:r>
              <a:rPr lang="en-IN" dirty="0"/>
              <a:t>Recall</a:t>
            </a:r>
          </a:p>
          <a:p>
            <a:pPr lvl="1"/>
            <a:r>
              <a:rPr lang="en-IN" dirty="0"/>
              <a:t>F1-score</a:t>
            </a:r>
          </a:p>
          <a:p>
            <a:pPr lvl="1"/>
            <a:r>
              <a:rPr lang="en-IN" dirty="0"/>
              <a:t>ROC–AUC</a:t>
            </a:r>
          </a:p>
          <a:p>
            <a:r>
              <a:rPr lang="en-IN" b="1" dirty="0"/>
              <a:t>Reason:</a:t>
            </a:r>
            <a:br>
              <a:rPr lang="en-IN" dirty="0"/>
            </a:br>
            <a:r>
              <a:rPr lang="en-IN" dirty="0"/>
              <a:t>Accuracy alone is not sufficient for imbalanced fraud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62163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67D8-50CF-34FF-1D21-CEC1170B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2768-94EC-0DB2-23E0-9F025A013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Gradient Boosting:</a:t>
            </a:r>
          </a:p>
          <a:p>
            <a:pPr lvl="1"/>
            <a:r>
              <a:rPr lang="en-GB" dirty="0"/>
              <a:t>High overall accuracy</a:t>
            </a:r>
          </a:p>
          <a:p>
            <a:pPr lvl="1"/>
            <a:r>
              <a:rPr lang="en-GB" dirty="0"/>
              <a:t>Strong fraud detection capability</a:t>
            </a:r>
          </a:p>
          <a:p>
            <a:r>
              <a:rPr lang="en-GB" dirty="0"/>
              <a:t>AdaBoost:</a:t>
            </a:r>
          </a:p>
          <a:p>
            <a:pPr lvl="1"/>
            <a:r>
              <a:rPr lang="en-GB" dirty="0"/>
              <a:t>Better focus on misclassified fraud cases</a:t>
            </a:r>
          </a:p>
          <a:p>
            <a:pPr lvl="1"/>
            <a:r>
              <a:rPr lang="en-GB" dirty="0"/>
              <a:t>Improved recall for minority class</a:t>
            </a:r>
          </a:p>
          <a:p>
            <a:r>
              <a:rPr lang="en-GB" dirty="0"/>
              <a:t>Both models effectively detect fraudulent transactions.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593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7E04-9300-23C1-A162-5AECA7AE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21821-4145-D7DF-AFA9-769A07ADA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Conclusion:</a:t>
            </a:r>
            <a:endParaRPr lang="en-GB" dirty="0"/>
          </a:p>
          <a:p>
            <a:r>
              <a:rPr lang="en-GB" dirty="0"/>
              <a:t>Ensemble learning methods are effective for fraud detection</a:t>
            </a:r>
          </a:p>
          <a:p>
            <a:r>
              <a:rPr lang="en-GB" dirty="0"/>
              <a:t>Gradient Boosting and AdaBoost complement each other</a:t>
            </a:r>
          </a:p>
          <a:p>
            <a:r>
              <a:rPr lang="en-GB" dirty="0"/>
              <a:t>System can be applied to real banking environments</a:t>
            </a:r>
          </a:p>
          <a:p>
            <a:r>
              <a:rPr lang="en-GB" b="1" dirty="0"/>
              <a:t>Future Scope:</a:t>
            </a:r>
            <a:endParaRPr lang="en-GB" dirty="0"/>
          </a:p>
          <a:p>
            <a:r>
              <a:rPr lang="en-GB" dirty="0"/>
              <a:t>Real-time fraud detection</a:t>
            </a:r>
          </a:p>
          <a:p>
            <a:r>
              <a:rPr lang="en-GB" dirty="0"/>
              <a:t>Integration with banking APIs</a:t>
            </a:r>
          </a:p>
          <a:p>
            <a:r>
              <a:rPr lang="en-GB" dirty="0"/>
              <a:t>Use of deep learning and explainable 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8676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4</TotalTime>
  <Words>421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Basis</vt:lpstr>
      <vt:lpstr>Credit Card Fraud Detection using Gradient Boosting Classifier and AdaBoost</vt:lpstr>
      <vt:lpstr>Introduction</vt:lpstr>
      <vt:lpstr>Problem Statement</vt:lpstr>
      <vt:lpstr>Dataset Description</vt:lpstr>
      <vt:lpstr>Mathematical Intuition</vt:lpstr>
      <vt:lpstr>Gradient Boosting Classifier</vt:lpstr>
      <vt:lpstr>AdaBoost Classifier</vt:lpstr>
      <vt:lpstr>Model Training &amp; Evaluation</vt:lpstr>
      <vt:lpstr>Results &amp; Comparison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Kumar</dc:creator>
  <cp:lastModifiedBy>Prashant Kumar</cp:lastModifiedBy>
  <cp:revision>1</cp:revision>
  <dcterms:created xsi:type="dcterms:W3CDTF">2026-01-27T06:47:47Z</dcterms:created>
  <dcterms:modified xsi:type="dcterms:W3CDTF">2026-01-27T06:52:47Z</dcterms:modified>
</cp:coreProperties>
</file>
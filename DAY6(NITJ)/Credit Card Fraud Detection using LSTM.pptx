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234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660F76E7-E0FD-4AE7-966B-E64C1A65D88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7DA5E232-E914-4AFA-8E99-B58151F8EA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660F76E7-E0FD-4AE7-966B-E64C1A65D88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5E232-E914-4AFA-8E99-B58151F8EA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660F76E7-E0FD-4AE7-966B-E64C1A65D88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7DA5E232-E914-4AFA-8E99-B58151F8EA82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660F76E7-E0FD-4AE7-966B-E64C1A65D88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7DA5E232-E914-4AFA-8E99-B58151F8EA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660F76E7-E0FD-4AE7-966B-E64C1A65D88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7DA5E232-E914-4AFA-8E99-B58151F8EA8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76E7-E0FD-4AE7-966B-E64C1A65D88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5E232-E914-4AFA-8E99-B58151F8EA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660F76E7-E0FD-4AE7-966B-E64C1A65D88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7DA5E232-E914-4AFA-8E99-B58151F8EA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660F76E7-E0FD-4AE7-966B-E64C1A65D88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7DA5E232-E914-4AFA-8E99-B58151F8EA8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660F76E7-E0FD-4AE7-966B-E64C1A65D88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7DA5E232-E914-4AFA-8E99-B58151F8EA8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76E7-E0FD-4AE7-966B-E64C1A65D88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5E232-E914-4AFA-8E99-B58151F8EA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76E7-E0FD-4AE7-966B-E64C1A65D88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5E232-E914-4AFA-8E99-B58151F8EA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660F76E7-E0FD-4AE7-966B-E64C1A65D88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7DA5E232-E914-4AFA-8E99-B58151F8EA82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200" dirty="0" smtClean="0"/>
              <a:t>Credit Card Fraud Detection using LSTM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 smtClean="0">
                <a:solidFill>
                  <a:srgbClr val="00B0F0"/>
                </a:solidFill>
              </a:rPr>
              <a:t>Deep Learning Approach for Secure Digital Transactions</a:t>
            </a:r>
          </a:p>
          <a:p>
            <a:r>
              <a:rPr lang="en-GB" b="1" dirty="0" smtClean="0">
                <a:solidFill>
                  <a:srgbClr val="00B0F0"/>
                </a:solidFill>
              </a:rPr>
              <a:t>Prashant Kumar</a:t>
            </a:r>
            <a:endParaRPr lang="en-GB" b="1" dirty="0" smtClean="0">
              <a:solidFill>
                <a:srgbClr val="00B0F0"/>
              </a:solidFill>
            </a:endParaRPr>
          </a:p>
          <a:p>
            <a:r>
              <a:rPr lang="en-GB" b="1" dirty="0" smtClean="0">
                <a:solidFill>
                  <a:srgbClr val="00B0F0"/>
                </a:solidFill>
              </a:rPr>
              <a:t>B.Tech CSE | Internship / Project</a:t>
            </a:r>
          </a:p>
          <a:p>
            <a:r>
              <a:rPr lang="en-GB" b="1" i="1" dirty="0" smtClean="0">
                <a:solidFill>
                  <a:srgbClr val="00B0F0"/>
                </a:solidFill>
              </a:rPr>
              <a:t>(Relatable context: UPI, online payments, fintech growth in India 🇮🇳)</a:t>
            </a:r>
            <a:endParaRPr lang="en-GB" b="1" dirty="0" smtClean="0">
              <a:solidFill>
                <a:srgbClr val="00B0F0"/>
              </a:solidFill>
            </a:endParaRPr>
          </a:p>
          <a:p>
            <a:endParaRPr lang="en-US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Rapid growth of </a:t>
            </a:r>
            <a:r>
              <a:rPr lang="en-GB" sz="2400" b="1" dirty="0" smtClean="0"/>
              <a:t>digital payments (UPI, cards, wallets)</a:t>
            </a:r>
            <a:endParaRPr lang="en-GB" sz="2400" dirty="0" smtClean="0"/>
          </a:p>
          <a:p>
            <a:r>
              <a:rPr lang="en-GB" sz="2400" dirty="0" smtClean="0"/>
              <a:t>Increasing fraud cases in </a:t>
            </a:r>
            <a:r>
              <a:rPr lang="en-GB" sz="2400" b="1" dirty="0" smtClean="0"/>
              <a:t>Indian banking &amp; fintech</a:t>
            </a:r>
            <a:endParaRPr lang="en-GB" sz="2400" dirty="0" smtClean="0"/>
          </a:p>
          <a:p>
            <a:r>
              <a:rPr lang="en-GB" sz="2400" dirty="0" smtClean="0"/>
              <a:t>Manual fraud detection ❌ not scalable</a:t>
            </a:r>
          </a:p>
          <a:p>
            <a:r>
              <a:rPr lang="en-GB" sz="2400" dirty="0" smtClean="0"/>
              <a:t> </a:t>
            </a:r>
            <a:r>
              <a:rPr lang="en-GB" sz="2400" b="1" dirty="0" smtClean="0"/>
              <a:t>Goal:</a:t>
            </a:r>
            <a:r>
              <a:rPr lang="en-GB" sz="2400" dirty="0" smtClean="0"/>
              <a:t> Build an intelligent system to detect fraud automatically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LSTM?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 smtClean="0"/>
              <a:t>Traditional ML Limitation</a:t>
            </a:r>
          </a:p>
          <a:p>
            <a:r>
              <a:rPr lang="en-GB" sz="2400" dirty="0" smtClean="0"/>
              <a:t>Logistic Regression → Linear</a:t>
            </a:r>
          </a:p>
          <a:p>
            <a:r>
              <a:rPr lang="en-GB" sz="2400" dirty="0" smtClean="0"/>
              <a:t>SVM → Limited sequential learning</a:t>
            </a:r>
          </a:p>
          <a:p>
            <a:r>
              <a:rPr lang="en-GB" sz="2400" b="1" dirty="0" smtClean="0"/>
              <a:t>LSTM Advantage</a:t>
            </a:r>
          </a:p>
          <a:p>
            <a:r>
              <a:rPr lang="en-GB" sz="2400" b="1" dirty="0" smtClean="0"/>
              <a:t>IF</a:t>
            </a:r>
            <a:endParaRPr lang="en-GB" sz="2400" dirty="0" smtClean="0"/>
          </a:p>
          <a:p>
            <a:r>
              <a:rPr lang="en-GB" sz="2400" dirty="0" smtClean="0"/>
              <a:t>Fraud patterns are </a:t>
            </a:r>
            <a:r>
              <a:rPr lang="en-GB" sz="2400" b="1" dirty="0" smtClean="0"/>
              <a:t>non-linear</a:t>
            </a:r>
            <a:endParaRPr lang="en-GB" sz="2400" dirty="0" smtClean="0"/>
          </a:p>
          <a:p>
            <a:r>
              <a:rPr lang="en-GB" sz="2400" dirty="0" smtClean="0"/>
              <a:t>Feature dependency exists</a:t>
            </a:r>
          </a:p>
          <a:p>
            <a:r>
              <a:rPr lang="en-GB" sz="2400" b="1" dirty="0" smtClean="0"/>
              <a:t>THEN</a:t>
            </a:r>
            <a:r>
              <a:rPr lang="en-GB" sz="2400" dirty="0" smtClean="0"/>
              <a:t/>
            </a:r>
            <a:br>
              <a:rPr lang="en-GB" sz="2400" dirty="0" smtClean="0"/>
            </a:br>
            <a:r>
              <a:rPr lang="en-GB" sz="2400" dirty="0" smtClean="0"/>
              <a:t>→ Use </a:t>
            </a:r>
            <a:r>
              <a:rPr lang="en-GB" sz="2400" b="1" dirty="0" smtClean="0"/>
              <a:t>LSTM (Long Short-Term Memory)</a:t>
            </a:r>
            <a:endParaRPr lang="en-GB" sz="2400" dirty="0" smtClean="0"/>
          </a:p>
          <a:p>
            <a:endParaRPr lang="en-US" sz="2400" dirty="0"/>
          </a:p>
        </p:txBody>
      </p:sp>
    </p:spTree>
  </p:cSld>
  <p:clrMapOvr>
    <a:masterClrMapping/>
  </p:clrMapOvr>
  <p:transition>
    <p:pull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LSTM Mathematical Intuition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LSTM updates memory using:</a:t>
            </a:r>
          </a:p>
          <a:p>
            <a:r>
              <a:rPr lang="en-US" sz="2400" dirty="0" smtClean="0"/>
              <a:t>ht=f(xt,ht−1</a:t>
            </a:r>
            <a:r>
              <a:rPr lang="en-US" sz="2400" dirty="0" smtClean="0"/>
              <a:t>) </a:t>
            </a:r>
            <a:r>
              <a:rPr lang="en-US" sz="2400" dirty="0" smtClean="0"/>
              <a:t>Remembers important patterns</a:t>
            </a:r>
          </a:p>
          <a:p>
            <a:r>
              <a:rPr lang="en-US" sz="2400" dirty="0" smtClean="0"/>
              <a:t>Forgets irrelevant information</a:t>
            </a:r>
          </a:p>
          <a:p>
            <a:r>
              <a:rPr lang="en-US" sz="2400" dirty="0" smtClean="0"/>
              <a:t>Helps </a:t>
            </a:r>
            <a:r>
              <a:rPr lang="en-US" sz="2400" dirty="0" smtClean="0"/>
              <a:t>detect </a:t>
            </a:r>
            <a:r>
              <a:rPr lang="en-US" sz="2400" b="1" dirty="0" smtClean="0"/>
              <a:t>hidden fraud behavior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Decision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Final probability using sigmoid:</a:t>
            </a:r>
          </a:p>
          <a:p>
            <a:r>
              <a:rPr lang="en-US" sz="2400" dirty="0" smtClean="0"/>
              <a:t>P=1+e</a:t>
            </a:r>
            <a:r>
              <a:rPr lang="en-US" sz="2400" dirty="0" smtClean="0"/>
              <a:t>−</a:t>
            </a:r>
            <a:r>
              <a:rPr lang="en-US" sz="2400" dirty="0" smtClean="0"/>
              <a:t>z​</a:t>
            </a:r>
            <a:endParaRPr lang="en-US" sz="2400" b="1" dirty="0" smtClean="0"/>
          </a:p>
          <a:p>
            <a:r>
              <a:rPr lang="en-US" sz="2400" b="1" dirty="0" smtClean="0"/>
              <a:t>IF</a:t>
            </a:r>
            <a:r>
              <a:rPr lang="en-US" sz="2400" dirty="0" smtClean="0"/>
              <a:t>  </a:t>
            </a:r>
            <a:r>
              <a:rPr lang="en-US" sz="2400" dirty="0" smtClean="0"/>
              <a:t>P&gt;0.5 </a:t>
            </a:r>
            <a:r>
              <a:rPr lang="en-US" sz="2400" dirty="0" smtClean="0"/>
              <a:t>→ Fraud</a:t>
            </a:r>
          </a:p>
          <a:p>
            <a:r>
              <a:rPr lang="en-US" sz="2400" b="1" dirty="0" smtClean="0"/>
              <a:t>ELSE</a:t>
            </a:r>
            <a:r>
              <a:rPr lang="en-US" sz="2400" dirty="0" smtClean="0"/>
              <a:t> → Genuine</a:t>
            </a:r>
          </a:p>
          <a:p>
            <a:r>
              <a:rPr lang="en-US" sz="2400" dirty="0" smtClean="0"/>
              <a:t>Simple logic, powerful prediction </a:t>
            </a:r>
            <a:endParaRPr lang="en-US" sz="2400" dirty="0"/>
          </a:p>
        </p:txBody>
      </p:sp>
    </p:spTree>
  </p:cSld>
  <p:clrMapOvr>
    <a:masterClrMapping/>
  </p:clrMapOvr>
  <p:transition>
    <p:pull dir="l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Handling Class Imbalance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IF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Fraud cost </a:t>
            </a:r>
            <a:r>
              <a:rPr lang="en-US" sz="2400" dirty="0" err="1" smtClean="0"/>
              <a:t>Cf</a:t>
            </a:r>
            <a:r>
              <a:rPr lang="en-US" sz="2400" dirty="0" smtClean="0"/>
              <a:t>​ </a:t>
            </a:r>
            <a:r>
              <a:rPr lang="en-US" sz="2400" dirty="0" smtClean="0"/>
              <a:t>is high</a:t>
            </a:r>
          </a:p>
          <a:p>
            <a:r>
              <a:rPr lang="en-US" sz="2400" b="1" dirty="0" smtClean="0"/>
              <a:t>THEN</a:t>
            </a:r>
            <a:endParaRPr lang="en-US" sz="2400" dirty="0" smtClean="0"/>
          </a:p>
          <a:p>
            <a:r>
              <a:rPr lang="en-US" sz="2400" dirty="0" smtClean="0"/>
              <a:t>min⁡(</a:t>
            </a:r>
            <a:r>
              <a:rPr lang="en-US" sz="2400" dirty="0" err="1" smtClean="0"/>
              <a:t>Cf⋅FN+Cn⋅FP</a:t>
            </a:r>
            <a:r>
              <a:rPr lang="en-US" sz="2400" dirty="0" smtClean="0"/>
              <a:t>)</a:t>
            </a:r>
          </a:p>
          <a:p>
            <a:pPr>
              <a:buNone/>
            </a:pPr>
            <a:r>
              <a:rPr lang="en-US" sz="2400" dirty="0" smtClean="0"/>
              <a:t> </a:t>
            </a:r>
            <a:r>
              <a:rPr lang="en-US" sz="2400" b="1" dirty="0" smtClean="0"/>
              <a:t>Strategy Used</a:t>
            </a:r>
          </a:p>
          <a:p>
            <a:r>
              <a:rPr lang="en-US" sz="2400" dirty="0" smtClean="0"/>
              <a:t>Class-weighted loss</a:t>
            </a:r>
          </a:p>
          <a:p>
            <a:r>
              <a:rPr lang="en-US" sz="2400" dirty="0" smtClean="0"/>
              <a:t>Focus on </a:t>
            </a:r>
            <a:r>
              <a:rPr lang="en-US" sz="2400" b="1" dirty="0" smtClean="0"/>
              <a:t>Recall &amp; ROC-AUC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  <p:transition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Performance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Metrics Used:</a:t>
            </a:r>
          </a:p>
          <a:p>
            <a:r>
              <a:rPr lang="en-GB" sz="2400" dirty="0" smtClean="0"/>
              <a:t>Recall (Fraud Detection Power)</a:t>
            </a:r>
          </a:p>
          <a:p>
            <a:r>
              <a:rPr lang="en-GB" sz="2400" dirty="0" smtClean="0"/>
              <a:t>Precision</a:t>
            </a:r>
          </a:p>
          <a:p>
            <a:r>
              <a:rPr lang="en-GB" sz="2400" dirty="0" smtClean="0"/>
              <a:t>ROC–AUC Curve</a:t>
            </a:r>
          </a:p>
          <a:p>
            <a:r>
              <a:rPr lang="en-GB" sz="2400" dirty="0" smtClean="0"/>
              <a:t> </a:t>
            </a:r>
            <a:r>
              <a:rPr lang="en-GB" sz="2400" b="1" dirty="0" smtClean="0"/>
              <a:t>Goal:</a:t>
            </a:r>
            <a:r>
              <a:rPr lang="en-GB" sz="2400" dirty="0" smtClean="0"/>
              <a:t> Catch maximum frauds, even at low frequency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wheel spokes="8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Real-World Relevance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Industry Use-Cases</a:t>
            </a:r>
          </a:p>
          <a:p>
            <a:r>
              <a:rPr lang="en-US" sz="2400" dirty="0" smtClean="0"/>
              <a:t>Banks (SBI, HDFC, ICICI)</a:t>
            </a:r>
          </a:p>
          <a:p>
            <a:r>
              <a:rPr lang="en-US" sz="2400" dirty="0" err="1" smtClean="0"/>
              <a:t>Fintech</a:t>
            </a:r>
            <a:r>
              <a:rPr lang="en-US" sz="2400" dirty="0" smtClean="0"/>
              <a:t> (</a:t>
            </a:r>
            <a:r>
              <a:rPr lang="en-US" sz="2400" dirty="0" err="1" smtClean="0"/>
              <a:t>Paytm</a:t>
            </a:r>
            <a:r>
              <a:rPr lang="en-US" sz="2400" dirty="0" smtClean="0"/>
              <a:t>, </a:t>
            </a:r>
            <a:r>
              <a:rPr lang="en-US" sz="2400" dirty="0" err="1" smtClean="0"/>
              <a:t>PhonePe</a:t>
            </a:r>
            <a:r>
              <a:rPr lang="en-US" sz="2400" dirty="0" smtClean="0"/>
              <a:t>, </a:t>
            </a:r>
            <a:r>
              <a:rPr lang="en-US" sz="2400" dirty="0" err="1" smtClean="0"/>
              <a:t>Razorpay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Smart city financial monitoring</a:t>
            </a:r>
            <a:endParaRPr lang="en-US" sz="2400" dirty="0"/>
          </a:p>
        </p:txBody>
      </p:sp>
    </p:spTree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1906232"/>
          </a:xfrm>
        </p:spPr>
        <p:txBody>
          <a:bodyPr/>
          <a:lstStyle/>
          <a:p>
            <a:r>
              <a:rPr lang="en-GB" dirty="0" smtClean="0"/>
              <a:t>Sequential learning</a:t>
            </a:r>
          </a:p>
          <a:p>
            <a:r>
              <a:rPr lang="en-GB" dirty="0" smtClean="0"/>
              <a:t>High recall</a:t>
            </a:r>
          </a:p>
          <a:p>
            <a:r>
              <a:rPr lang="en-GB" dirty="0" smtClean="0"/>
              <a:t>Scalable deployment required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683568" y="3861048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Future Enhancements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5576" y="4581128"/>
            <a:ext cx="69127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C000"/>
                </a:solidFill>
              </a:rPr>
              <a:t>Hybrid CNN + LSTM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C000"/>
                </a:solidFill>
              </a:rPr>
              <a:t>Real-time streaming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C000"/>
                </a:solidFill>
              </a:rPr>
              <a:t>Cloud deployment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C000"/>
                </a:solidFill>
              </a:rPr>
              <a:t>Explainable AI for banking trust</a:t>
            </a:r>
          </a:p>
          <a:p>
            <a:pPr>
              <a:buFont typeface="Arial" pitchFamily="34" charset="0"/>
              <a:buChar char="•"/>
            </a:pPr>
            <a:endParaRPr lang="en-US" sz="24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Thank You Wallpapers - Top Free Thank You Backgrounds - WallpaperAcces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28</TotalTime>
  <Words>225</Words>
  <Application>Microsoft Office PowerPoint</Application>
  <PresentationFormat>On-screen Show (4:3)</PresentationFormat>
  <Paragraphs>57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Verve</vt:lpstr>
      <vt:lpstr>Credit Card Fraud Detection using LSTM</vt:lpstr>
      <vt:lpstr>Problem Statement</vt:lpstr>
      <vt:lpstr>Why LSTM?</vt:lpstr>
      <vt:lpstr>LSTM Mathematical Intuition</vt:lpstr>
      <vt:lpstr>Model Decision Logic</vt:lpstr>
      <vt:lpstr>Handling Class Imbalance</vt:lpstr>
      <vt:lpstr>Model Performance Metrics</vt:lpstr>
      <vt:lpstr>Real-World Relevance</vt:lpstr>
      <vt:lpstr>Conclusion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using LSTM</dc:title>
  <dc:creator>DELL</dc:creator>
  <cp:lastModifiedBy>DELL</cp:lastModifiedBy>
  <cp:revision>4</cp:revision>
  <dcterms:created xsi:type="dcterms:W3CDTF">2026-01-21T09:12:39Z</dcterms:created>
  <dcterms:modified xsi:type="dcterms:W3CDTF">2026-01-21T09:41:31Z</dcterms:modified>
</cp:coreProperties>
</file>
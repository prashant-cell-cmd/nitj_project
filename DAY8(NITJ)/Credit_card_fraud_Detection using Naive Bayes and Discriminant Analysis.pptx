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A14A69C5-4567-4AFA-93B6-4BE91EE4A1C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2B540077-EB4F-497D-A58C-07C77CD489D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2492896"/>
            <a:ext cx="8458200" cy="1222375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Submitted by:</a:t>
            </a:r>
            <a:r>
              <a:rPr lang="en-US" sz="2800" dirty="0" smtClean="0"/>
              <a:t> </a:t>
            </a:r>
            <a:r>
              <a:rPr lang="en-US" sz="2800" dirty="0" err="1" smtClean="0"/>
              <a:t>Prashant</a:t>
            </a:r>
            <a:r>
              <a:rPr lang="en-US" sz="2800" dirty="0" smtClean="0"/>
              <a:t> Kumar</a:t>
            </a:r>
            <a:br>
              <a:rPr lang="en-US" sz="2800" dirty="0" smtClean="0"/>
            </a:br>
            <a:r>
              <a:rPr lang="en-US" sz="2800" b="1" dirty="0" smtClean="0"/>
              <a:t>Degree:</a:t>
            </a:r>
            <a:r>
              <a:rPr lang="en-US" sz="2800" dirty="0" smtClean="0"/>
              <a:t> </a:t>
            </a:r>
            <a:r>
              <a:rPr lang="en-US" sz="2800" dirty="0" err="1" smtClean="0"/>
              <a:t>B.Tech</a:t>
            </a:r>
            <a:r>
              <a:rPr lang="en-US" sz="2800" dirty="0" smtClean="0"/>
              <a:t> (Computer Science &amp; Engineering)</a:t>
            </a:r>
            <a:br>
              <a:rPr lang="en-US" sz="2800" dirty="0" smtClean="0"/>
            </a:br>
            <a:r>
              <a:rPr lang="en-US" sz="2800" b="1" dirty="0" smtClean="0"/>
              <a:t>Technologies:</a:t>
            </a:r>
            <a:r>
              <a:rPr lang="en-US" sz="2800" dirty="0" smtClean="0"/>
              <a:t> Python | ML | </a:t>
            </a:r>
            <a:r>
              <a:rPr lang="en-US" sz="2800" dirty="0" err="1" smtClean="0"/>
              <a:t>FastAPI</a:t>
            </a:r>
            <a:r>
              <a:rPr lang="en-US" sz="2800" dirty="0" smtClean="0"/>
              <a:t> | </a:t>
            </a:r>
            <a:r>
              <a:rPr lang="en-US" sz="2800" dirty="0" err="1" smtClean="0"/>
              <a:t>Docker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1196752"/>
            <a:ext cx="8458200" cy="914400"/>
          </a:xfrm>
        </p:spPr>
        <p:txBody>
          <a:bodyPr>
            <a:noAutofit/>
          </a:bodyPr>
          <a:lstStyle/>
          <a:p>
            <a:r>
              <a:rPr lang="en-GB" sz="2800" b="1" dirty="0" smtClean="0"/>
              <a:t>Credit Card Fraud Detection System</a:t>
            </a: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smtClean="0"/>
              <a:t>Using Naive </a:t>
            </a:r>
            <a:r>
              <a:rPr lang="en-GB" sz="2800" dirty="0" err="1" smtClean="0"/>
              <a:t>Bayes</a:t>
            </a:r>
            <a:r>
              <a:rPr lang="en-GB" sz="2800" dirty="0" smtClean="0"/>
              <a:t> &amp; Linear </a:t>
            </a:r>
            <a:r>
              <a:rPr lang="en-GB" sz="2800" dirty="0" err="1" smtClean="0"/>
              <a:t>Discriminant</a:t>
            </a:r>
            <a:r>
              <a:rPr lang="en-GB" sz="2800" dirty="0" smtClean="0"/>
              <a:t> Analysis</a:t>
            </a:r>
            <a:endParaRPr lang="en-US" sz="28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 &amp; 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Growth of online payments → rise in fraud</a:t>
            </a:r>
            <a:br>
              <a:rPr lang="en-GB" dirty="0" smtClean="0"/>
            </a:br>
            <a:r>
              <a:rPr lang="en-GB" dirty="0" smtClean="0"/>
              <a:t>Manual </a:t>
            </a:r>
            <a:r>
              <a:rPr lang="en-GB" dirty="0" smtClean="0"/>
              <a:t>monitoring is slow and inefficient</a:t>
            </a:r>
          </a:p>
          <a:p>
            <a:r>
              <a:rPr lang="en-GB" b="1" dirty="0" smtClean="0"/>
              <a:t>Problem: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Design a system to </a:t>
            </a:r>
            <a:r>
              <a:rPr lang="en-GB" b="1" dirty="0" smtClean="0"/>
              <a:t>automatically detect fraudulent credit card transactions in real time</a:t>
            </a:r>
            <a:r>
              <a:rPr lang="en-GB" dirty="0" smtClean="0"/>
              <a:t> with high accuracy and reliability.</a:t>
            </a:r>
            <a:endParaRPr lang="en-GB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 Goals:</a:t>
            </a:r>
          </a:p>
          <a:p>
            <a:r>
              <a:rPr lang="en-US" dirty="0" smtClean="0"/>
              <a:t>Detect fraudulent transactions</a:t>
            </a:r>
          </a:p>
          <a:p>
            <a:r>
              <a:rPr lang="en-US" dirty="0" smtClean="0"/>
              <a:t>Generate probability-based risk score</a:t>
            </a:r>
          </a:p>
          <a:p>
            <a:r>
              <a:rPr lang="en-US" dirty="0" smtClean="0"/>
              <a:t>Apply probabilistic &amp; </a:t>
            </a:r>
            <a:r>
              <a:rPr lang="en-US" dirty="0" err="1" smtClean="0"/>
              <a:t>discriminant</a:t>
            </a:r>
            <a:r>
              <a:rPr lang="en-US" dirty="0" smtClean="0"/>
              <a:t> models</a:t>
            </a:r>
          </a:p>
          <a:p>
            <a:r>
              <a:rPr lang="en-US" dirty="0" smtClean="0"/>
              <a:t>Provide real-time prediction via API</a:t>
            </a:r>
          </a:p>
          <a:p>
            <a:r>
              <a:rPr lang="en-US" dirty="0" smtClean="0"/>
              <a:t>Deploy system using </a:t>
            </a:r>
            <a:r>
              <a:rPr lang="en-US" dirty="0" err="1" smtClean="0"/>
              <a:t>Docker</a:t>
            </a:r>
            <a:endParaRPr lang="en-US" dirty="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Credit Card Transactions Dataset</a:t>
            </a:r>
            <a:endParaRPr lang="en-US" dirty="0" smtClean="0"/>
          </a:p>
          <a:p>
            <a:r>
              <a:rPr lang="en-US" dirty="0" smtClean="0"/>
              <a:t>Total Features: </a:t>
            </a:r>
            <a:r>
              <a:rPr lang="en-US" b="1" dirty="0" smtClean="0"/>
              <a:t>30</a:t>
            </a:r>
            <a:endParaRPr lang="en-US" dirty="0" smtClean="0"/>
          </a:p>
          <a:p>
            <a:pPr lvl="1"/>
            <a:r>
              <a:rPr lang="en-US" dirty="0" smtClean="0"/>
              <a:t>Time</a:t>
            </a:r>
          </a:p>
          <a:p>
            <a:pPr lvl="1"/>
            <a:r>
              <a:rPr lang="en-US" dirty="0" smtClean="0"/>
              <a:t>V1–V28 (PCA features)</a:t>
            </a:r>
          </a:p>
          <a:p>
            <a:pPr lvl="1"/>
            <a:r>
              <a:rPr lang="en-US" dirty="0" smtClean="0"/>
              <a:t>Amount</a:t>
            </a:r>
          </a:p>
          <a:p>
            <a:r>
              <a:rPr lang="en-US" dirty="0" smtClean="0"/>
              <a:t>Target Variable:</a:t>
            </a:r>
          </a:p>
          <a:p>
            <a:pPr lvl="1"/>
            <a:r>
              <a:rPr lang="en-US" dirty="0" smtClean="0"/>
              <a:t>0 → Genuine</a:t>
            </a:r>
          </a:p>
          <a:p>
            <a:pPr lvl="1"/>
            <a:r>
              <a:rPr lang="en-US" dirty="0" smtClean="0"/>
              <a:t>1 → Fraud</a:t>
            </a:r>
          </a:p>
          <a:p>
            <a:r>
              <a:rPr lang="en-US" dirty="0" smtClean="0"/>
              <a:t>🔐 PCA ensures privacy of sensitive data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     Workflow</a:t>
            </a:r>
          </a:p>
          <a:p>
            <a:r>
              <a:rPr lang="en-US" dirty="0" smtClean="0"/>
              <a:t>Transaction Input</a:t>
            </a:r>
          </a:p>
          <a:p>
            <a:pPr>
              <a:buNone/>
            </a:pPr>
            <a:r>
              <a:rPr lang="en-US" dirty="0" smtClean="0"/>
              <a:t>            ↓</a:t>
            </a:r>
            <a:endParaRPr lang="en-US" dirty="0" smtClean="0"/>
          </a:p>
          <a:p>
            <a:r>
              <a:rPr lang="en-US" dirty="0" smtClean="0"/>
              <a:t>Feature Validation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smtClean="0"/>
              <a:t>↓</a:t>
            </a:r>
          </a:p>
          <a:p>
            <a:r>
              <a:rPr lang="en-US" dirty="0" smtClean="0"/>
              <a:t>ML Model (NB / LDA)</a:t>
            </a:r>
          </a:p>
          <a:p>
            <a:pPr>
              <a:buNone/>
            </a:pPr>
            <a:r>
              <a:rPr lang="en-US" dirty="0" smtClean="0"/>
              <a:t>            ↓</a:t>
            </a:r>
            <a:endParaRPr lang="en-US" dirty="0" smtClean="0"/>
          </a:p>
          <a:p>
            <a:r>
              <a:rPr lang="en-US" dirty="0" smtClean="0"/>
              <a:t>Fraud </a:t>
            </a:r>
            <a:r>
              <a:rPr lang="en-US" dirty="0" smtClean="0"/>
              <a:t>Probability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           </a:t>
            </a:r>
            <a:r>
              <a:rPr lang="en-US" dirty="0" smtClean="0"/>
              <a:t>↓</a:t>
            </a:r>
          </a:p>
          <a:p>
            <a:r>
              <a:rPr lang="en-US" dirty="0" smtClean="0"/>
              <a:t>Decision </a:t>
            </a:r>
            <a:r>
              <a:rPr lang="en-US" dirty="0" smtClean="0"/>
              <a:t>Logic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smtClean="0"/>
              <a:t>↓</a:t>
            </a:r>
          </a:p>
          <a:p>
            <a:r>
              <a:rPr lang="en-US" dirty="0" smtClean="0"/>
              <a:t>API Response</a:t>
            </a:r>
          </a:p>
          <a:p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Naive </a:t>
            </a:r>
            <a:r>
              <a:rPr lang="en-US" dirty="0" err="1" smtClean="0"/>
              <a:t>Bayes</a:t>
            </a:r>
            <a:r>
              <a:rPr lang="en-US" dirty="0" smtClean="0"/>
              <a:t> – Core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Based on </a:t>
            </a:r>
            <a:r>
              <a:rPr lang="en-US" b="1" dirty="0" err="1" smtClean="0"/>
              <a:t>Bayes</a:t>
            </a:r>
            <a:r>
              <a:rPr lang="en-US" b="1" dirty="0" smtClean="0"/>
              <a:t> Theorem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GB" dirty="0" smtClean="0"/>
              <a:t>      Assumes feature independence</a:t>
            </a:r>
            <a:br>
              <a:rPr lang="en-GB" dirty="0" smtClean="0"/>
            </a:br>
            <a:r>
              <a:rPr lang="en-GB" dirty="0" smtClean="0"/>
              <a:t> </a:t>
            </a:r>
            <a:r>
              <a:rPr lang="en-GB" dirty="0" smtClean="0"/>
              <a:t>  Fast </a:t>
            </a:r>
            <a:r>
              <a:rPr lang="en-GB" dirty="0" smtClean="0"/>
              <a:t>and efficient for large datasets         </a:t>
            </a:r>
            <a:r>
              <a:rPr lang="en-US" dirty="0" smtClean="0"/>
              <a:t>P(Y∣X</a:t>
            </a:r>
            <a:r>
              <a:rPr lang="en-US" dirty="0" smtClean="0"/>
              <a:t>)=P(X</a:t>
            </a:r>
            <a:r>
              <a:rPr lang="en-US" dirty="0" smtClean="0"/>
              <a:t>∣Y)P(Y)</a:t>
            </a:r>
            <a:r>
              <a:rPr lang="en-US" dirty="0" smtClean="0"/>
              <a:t>​/</a:t>
            </a:r>
            <a:r>
              <a:rPr lang="en-US" dirty="0" smtClean="0"/>
              <a:t>P(X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IF P(Fraud | X) &gt; P(Genuine | X)</a:t>
            </a:r>
          </a:p>
          <a:p>
            <a:pPr>
              <a:buNone/>
            </a:pPr>
            <a:r>
              <a:rPr lang="en-US" dirty="0" smtClean="0"/>
              <a:t>    Fraud</a:t>
            </a:r>
          </a:p>
          <a:p>
            <a:pPr>
              <a:buNone/>
            </a:pPr>
            <a:r>
              <a:rPr lang="en-US" dirty="0" smtClean="0"/>
              <a:t>ELSE</a:t>
            </a:r>
          </a:p>
          <a:p>
            <a:pPr>
              <a:buNone/>
            </a:pPr>
            <a:r>
              <a:rPr lang="en-US" dirty="0" smtClean="0"/>
              <a:t>    Genuine</a:t>
            </a:r>
          </a:p>
          <a:p>
            <a:pPr>
              <a:buNone/>
            </a:pPr>
            <a:r>
              <a:rPr lang="en-US" dirty="0" smtClean="0"/>
              <a:t>                                   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</a:t>
            </a:r>
            <a:r>
              <a:rPr lang="en-US" dirty="0" err="1" smtClean="0"/>
              <a:t>Discriminant</a:t>
            </a:r>
            <a:r>
              <a:rPr lang="en-US" dirty="0" smtClean="0"/>
              <a:t> Analysis (LDA)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Maximizes class separation</a:t>
            </a:r>
          </a:p>
          <a:p>
            <a:r>
              <a:rPr lang="en-US" dirty="0" smtClean="0"/>
              <a:t>W=</a:t>
            </a:r>
            <a:r>
              <a:rPr lang="en-US" dirty="0" err="1" smtClean="0"/>
              <a:t>arg⁡max</a:t>
            </a:r>
            <a:r>
              <a:rPr lang="en-US" dirty="0" smtClean="0"/>
              <a:t>⁡ </a:t>
            </a:r>
            <a:r>
              <a:rPr lang="en-US" dirty="0" err="1" smtClean="0"/>
              <a:t>WtSbW</a:t>
            </a:r>
            <a:r>
              <a:rPr lang="en-US" dirty="0" smtClean="0"/>
              <a:t>/</a:t>
            </a:r>
            <a:r>
              <a:rPr lang="en-US" dirty="0" err="1" smtClean="0"/>
              <a:t>WtSwW</a:t>
            </a:r>
            <a:endParaRPr lang="en-US" dirty="0" smtClean="0"/>
          </a:p>
          <a:p>
            <a:pPr>
              <a:buNone/>
            </a:pPr>
            <a:r>
              <a:rPr lang="en-GB" dirty="0" smtClean="0"/>
              <a:t>    Projects data for better </a:t>
            </a:r>
            <a:r>
              <a:rPr lang="en-GB" dirty="0" smtClean="0"/>
              <a:t>discrimination</a:t>
            </a:r>
          </a:p>
          <a:p>
            <a:pPr>
              <a:buNone/>
            </a:pPr>
            <a:r>
              <a:rPr lang="en-GB" dirty="0" smtClean="0"/>
              <a:t>        IF projected value ≥ threshold</a:t>
            </a:r>
          </a:p>
          <a:p>
            <a:pPr>
              <a:buNone/>
            </a:pPr>
            <a:r>
              <a:rPr lang="en-GB" dirty="0" smtClean="0"/>
              <a:t>    Fraud</a:t>
            </a:r>
          </a:p>
          <a:p>
            <a:pPr>
              <a:buNone/>
            </a:pPr>
            <a:r>
              <a:rPr lang="en-GB" dirty="0" smtClean="0"/>
              <a:t>ELSE</a:t>
            </a:r>
          </a:p>
          <a:p>
            <a:pPr>
              <a:buNone/>
            </a:pPr>
            <a:r>
              <a:rPr lang="en-GB" dirty="0" smtClean="0"/>
              <a:t>    Genuine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Scoring &amp; Decision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Fraud Probability (Risk Score)</a:t>
            </a:r>
            <a:endParaRPr lang="en-US" dirty="0" smtClean="0"/>
          </a:p>
          <a:p>
            <a:r>
              <a:rPr lang="en-US" dirty="0" smtClean="0"/>
              <a:t>Risk Score=P(</a:t>
            </a:r>
            <a:r>
              <a:rPr lang="en-US" dirty="0" err="1" smtClean="0"/>
              <a:t>Fraud∣X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GB" dirty="0" smtClean="0"/>
              <a:t> </a:t>
            </a:r>
            <a:r>
              <a:rPr lang="en-GB" dirty="0" smtClean="0"/>
              <a:t>     &lt; 0.30 → Low Risk</a:t>
            </a:r>
          </a:p>
          <a:p>
            <a:pPr>
              <a:buNone/>
            </a:pPr>
            <a:r>
              <a:rPr lang="en-GB" dirty="0" smtClean="0"/>
              <a:t>      0.30–0.70 </a:t>
            </a:r>
            <a:r>
              <a:rPr lang="en-GB" dirty="0" smtClean="0"/>
              <a:t>→ Medium Risk</a:t>
            </a:r>
          </a:p>
          <a:p>
            <a:pPr>
              <a:buNone/>
            </a:pPr>
            <a:r>
              <a:rPr lang="en-GB" dirty="0" smtClean="0"/>
              <a:t>      &gt; </a:t>
            </a:r>
            <a:r>
              <a:rPr lang="en-GB" dirty="0" smtClean="0"/>
              <a:t>0.70 → High Risk</a:t>
            </a:r>
          </a:p>
          <a:p>
            <a:pPr>
              <a:buNone/>
            </a:pPr>
            <a:endParaRPr lang="en-GB" dirty="0" smtClean="0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&amp; Future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✅ Conclusion</a:t>
            </a:r>
          </a:p>
          <a:p>
            <a:r>
              <a:rPr lang="en-US" dirty="0" smtClean="0"/>
              <a:t>Efficient ML-based fraud detection system</a:t>
            </a:r>
          </a:p>
          <a:p>
            <a:r>
              <a:rPr lang="en-US" dirty="0" smtClean="0"/>
              <a:t>Probability-driven decisions</a:t>
            </a:r>
          </a:p>
          <a:p>
            <a:r>
              <a:rPr lang="en-US" dirty="0" smtClean="0"/>
              <a:t>Industry-ready deployment</a:t>
            </a:r>
          </a:p>
          <a:p>
            <a:pPr>
              <a:buNone/>
            </a:pPr>
            <a:r>
              <a:rPr lang="en-US" b="1" dirty="0" smtClean="0"/>
              <a:t>🔮 Future Enhancements</a:t>
            </a:r>
          </a:p>
          <a:p>
            <a:r>
              <a:rPr lang="en-US" dirty="0" smtClean="0"/>
              <a:t>Deep learning models</a:t>
            </a:r>
          </a:p>
          <a:p>
            <a:r>
              <a:rPr lang="en-US" dirty="0" smtClean="0"/>
              <a:t>Cloud deployment</a:t>
            </a:r>
          </a:p>
          <a:p>
            <a:r>
              <a:rPr lang="en-US" dirty="0" smtClean="0"/>
              <a:t>Visualization dashboard</a:t>
            </a:r>
            <a:endParaRPr lang="en-US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ncil vs Pixel Thank You Cards • Mama’s Sau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21</TotalTime>
  <Words>193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Trek</vt:lpstr>
      <vt:lpstr>Submitted by: Prashant Kumar Degree: B.Tech (Computer Science &amp; Engineering) Technologies: Python | ML | FastAPI | Docker</vt:lpstr>
      <vt:lpstr>Motivation &amp; Problem Statement</vt:lpstr>
      <vt:lpstr>Objectives</vt:lpstr>
      <vt:lpstr>Dataset Overview</vt:lpstr>
      <vt:lpstr>System Architecture</vt:lpstr>
      <vt:lpstr>Naive Bayes – Core Idea</vt:lpstr>
      <vt:lpstr>Linear Discriminant Analysis (LDA)</vt:lpstr>
      <vt:lpstr>Risk Scoring &amp; Decision Logic</vt:lpstr>
      <vt:lpstr>Conclusion &amp; Future Scope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Submitted by: Prashant Kumar Degree: B.Tech (Computer Science &amp; Engineering) Technologies: Python | ML | FastAPI | Docker</dc:title>
  <dc:creator>DELL</dc:creator>
  <cp:lastModifiedBy>DELL</cp:lastModifiedBy>
  <cp:revision>3</cp:revision>
  <dcterms:created xsi:type="dcterms:W3CDTF">2026-01-24T13:19:42Z</dcterms:created>
  <dcterms:modified xsi:type="dcterms:W3CDTF">2026-01-24T13:40:47Z</dcterms:modified>
</cp:coreProperties>
</file>
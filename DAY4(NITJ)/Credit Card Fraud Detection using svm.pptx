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1081949-03D2-48C0-90A4-BBF0DD10751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15CAF59-3BEF-4E32-8372-452D415EC0E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5656" y="836712"/>
            <a:ext cx="7406640" cy="147218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Credit Card Fraud Detection Using Support Vector Machine (SVM)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2924944"/>
            <a:ext cx="7406640" cy="1752600"/>
          </a:xfrm>
        </p:spPr>
        <p:txBody>
          <a:bodyPr/>
          <a:lstStyle/>
          <a:p>
            <a:r>
              <a:rPr lang="en-US" b="1" dirty="0" smtClean="0"/>
              <a:t>Presented by:</a:t>
            </a:r>
            <a:r>
              <a:rPr lang="en-US" dirty="0" smtClean="0"/>
              <a:t> </a:t>
            </a:r>
            <a:r>
              <a:rPr lang="en-US" dirty="0" err="1" smtClean="0"/>
              <a:t>Prashant</a:t>
            </a:r>
            <a:r>
              <a:rPr lang="en-US" dirty="0" smtClean="0"/>
              <a:t> Kumar</a:t>
            </a:r>
            <a:br>
              <a:rPr lang="en-US" dirty="0" smtClean="0"/>
            </a:br>
            <a:r>
              <a:rPr lang="en-US" b="1" dirty="0" smtClean="0"/>
              <a:t>Course:</a:t>
            </a:r>
            <a:r>
              <a:rPr lang="en-US" dirty="0" smtClean="0"/>
              <a:t> </a:t>
            </a:r>
            <a:r>
              <a:rPr lang="en-US" dirty="0" err="1" smtClean="0"/>
              <a:t>B.Tech</a:t>
            </a:r>
            <a:r>
              <a:rPr lang="en-US" dirty="0" smtClean="0"/>
              <a:t> (Computer Science &amp; Engineering)</a:t>
            </a:r>
            <a:br>
              <a:rPr lang="en-US" dirty="0" smtClean="0"/>
            </a:br>
            <a:r>
              <a:rPr lang="en-US" b="1" dirty="0" smtClean="0"/>
              <a:t>Institution:</a:t>
            </a:r>
            <a:r>
              <a:rPr lang="en-US" dirty="0" smtClean="0"/>
              <a:t> </a:t>
            </a:r>
            <a:r>
              <a:rPr lang="en-US" dirty="0" err="1" smtClean="0"/>
              <a:t>Gopal</a:t>
            </a:r>
            <a:r>
              <a:rPr lang="en-US" dirty="0" smtClean="0"/>
              <a:t> </a:t>
            </a:r>
            <a:r>
              <a:rPr lang="en-US" dirty="0" err="1" smtClean="0"/>
              <a:t>Narayan</a:t>
            </a:r>
            <a:r>
              <a:rPr lang="en-US" dirty="0" smtClean="0"/>
              <a:t> Singh University</a:t>
            </a:r>
            <a:br>
              <a:rPr lang="en-US" dirty="0" smtClean="0"/>
            </a:br>
            <a:r>
              <a:rPr lang="en-US" b="1" dirty="0" smtClean="0"/>
              <a:t>Technology Used:</a:t>
            </a:r>
            <a:r>
              <a:rPr lang="en-US" dirty="0" smtClean="0"/>
              <a:t> Python, Machine Learning, SVM</a:t>
            </a:r>
            <a:endParaRPr lang="en-US" dirty="0"/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Online transactions have increased rapidly in India due to digital payments (UPI, cards, wallets).</a:t>
            </a:r>
          </a:p>
          <a:p>
            <a:r>
              <a:rPr lang="en-GB" sz="2400" dirty="0" smtClean="0"/>
              <a:t>Credit card fraud causes huge financial loss to banks and customers.</a:t>
            </a:r>
          </a:p>
          <a:p>
            <a:r>
              <a:rPr lang="en-GB" sz="2400" dirty="0" smtClean="0"/>
              <a:t>Manual fraud detection is slow and inefficient.</a:t>
            </a:r>
          </a:p>
          <a:p>
            <a:r>
              <a:rPr lang="en-GB" sz="2400" dirty="0" smtClean="0"/>
              <a:t>Machine Learning provides an automatic and accurate solution.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648" y="1700808"/>
            <a:ext cx="7498080" cy="4800600"/>
          </a:xfrm>
        </p:spPr>
        <p:txBody>
          <a:bodyPr>
            <a:normAutofit/>
          </a:bodyPr>
          <a:lstStyle/>
          <a:p>
            <a:r>
              <a:rPr lang="en-GB" sz="2800" dirty="0" smtClean="0"/>
              <a:t>Credit card transaction data is:</a:t>
            </a:r>
          </a:p>
          <a:p>
            <a:r>
              <a:rPr lang="en-GB" sz="2800" dirty="0" smtClean="0"/>
              <a:t>Highly imbalanced (fraud cases are very less)</a:t>
            </a:r>
          </a:p>
          <a:p>
            <a:r>
              <a:rPr lang="en-GB" sz="2800" dirty="0" smtClean="0"/>
              <a:t>Complex and non-linear</a:t>
            </a:r>
          </a:p>
          <a:p>
            <a:r>
              <a:rPr lang="en-GB" sz="2800" dirty="0" smtClean="0"/>
              <a:t>Traditional rule-based systems fail to detect new fraud patterns.</a:t>
            </a:r>
          </a:p>
          <a:p>
            <a:endParaRPr lang="en-US" sz="2800" dirty="0"/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 smtClean="0"/>
              <a:t>Total Features:</a:t>
            </a:r>
            <a:r>
              <a:rPr lang="en-GB" sz="2400" dirty="0" smtClean="0"/>
              <a:t> 30</a:t>
            </a:r>
          </a:p>
          <a:p>
            <a:r>
              <a:rPr lang="en-GB" sz="2400" dirty="0" smtClean="0"/>
              <a:t>Time, Amount</a:t>
            </a:r>
          </a:p>
          <a:p>
            <a:r>
              <a:rPr lang="en-GB" sz="2400" dirty="0" smtClean="0"/>
              <a:t>V1 – V28 (PCA transformed)</a:t>
            </a:r>
          </a:p>
          <a:p>
            <a:r>
              <a:rPr lang="en-GB" sz="2400" b="1" dirty="0" smtClean="0"/>
              <a:t>Target Variable:</a:t>
            </a:r>
            <a:r>
              <a:rPr lang="en-GB" sz="2400" dirty="0" smtClean="0"/>
              <a:t> Class</a:t>
            </a:r>
          </a:p>
          <a:p>
            <a:r>
              <a:rPr lang="en-GB" sz="2400" dirty="0" smtClean="0"/>
              <a:t>0 → Genuine</a:t>
            </a:r>
          </a:p>
          <a:p>
            <a:r>
              <a:rPr lang="en-GB" sz="2400" dirty="0" smtClean="0"/>
              <a:t>1 → Fraud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SVM for This Dataset?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Dataset has </a:t>
            </a:r>
            <a:r>
              <a:rPr lang="en-GB" sz="2400" b="1" dirty="0" smtClean="0"/>
              <a:t>high-dimensional features (30)</a:t>
            </a:r>
            <a:endParaRPr lang="en-GB" sz="2400" dirty="0" smtClean="0"/>
          </a:p>
          <a:p>
            <a:r>
              <a:rPr lang="en-GB" sz="2400" dirty="0" smtClean="0"/>
              <a:t>Fraud patterns are </a:t>
            </a:r>
            <a:r>
              <a:rPr lang="en-GB" sz="2400" b="1" dirty="0" smtClean="0"/>
              <a:t>non-linear</a:t>
            </a:r>
            <a:endParaRPr lang="en-GB" sz="2400" dirty="0" smtClean="0"/>
          </a:p>
          <a:p>
            <a:r>
              <a:rPr lang="en-GB" sz="2400" dirty="0" smtClean="0"/>
              <a:t>SVM performs well with </a:t>
            </a:r>
            <a:r>
              <a:rPr lang="en-GB" sz="2400" b="1" dirty="0" smtClean="0"/>
              <a:t>imbalanced data</a:t>
            </a:r>
            <a:endParaRPr lang="en-GB" sz="2400" dirty="0" smtClean="0"/>
          </a:p>
          <a:p>
            <a:r>
              <a:rPr lang="en-GB" sz="2400" dirty="0" smtClean="0"/>
              <a:t>Finds </a:t>
            </a:r>
            <a:r>
              <a:rPr lang="en-GB" sz="2400" b="1" dirty="0" smtClean="0"/>
              <a:t>optimal separating </a:t>
            </a:r>
            <a:r>
              <a:rPr lang="en-GB" sz="2400" b="1" dirty="0" smtClean="0"/>
              <a:t>boundary</a:t>
            </a:r>
          </a:p>
          <a:p>
            <a:pPr>
              <a:buNone/>
            </a:pPr>
            <a:endParaRPr lang="en-GB" sz="2400" dirty="0" smtClean="0"/>
          </a:p>
          <a:p>
            <a:pPr>
              <a:buNone/>
            </a:pPr>
            <a:r>
              <a:rPr lang="en-GB" sz="2400" dirty="0" smtClean="0"/>
              <a:t>✔ Used widely in </a:t>
            </a:r>
            <a:r>
              <a:rPr lang="en-GB" sz="2400" b="1" dirty="0" smtClean="0"/>
              <a:t>financial risk systems</a:t>
            </a:r>
            <a:endParaRPr lang="en-GB" sz="2400" dirty="0" smtClean="0"/>
          </a:p>
          <a:p>
            <a:endParaRPr lang="en-US" sz="2400" dirty="0"/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SVM Working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SVM finds a </a:t>
            </a:r>
            <a:r>
              <a:rPr lang="en-US" sz="2400" b="1" dirty="0" smtClean="0"/>
              <a:t>decision boundary (</a:t>
            </a:r>
            <a:r>
              <a:rPr lang="en-US" sz="2400" b="1" dirty="0" err="1" smtClean="0"/>
              <a:t>hyperplane</a:t>
            </a:r>
            <a:r>
              <a:rPr lang="en-US" sz="2400" b="1" dirty="0" smtClean="0"/>
              <a:t>)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IF (w · x + b ≥ 0) THEN Transaction = Genuine ELSE Transaction = Fraud </a:t>
            </a:r>
          </a:p>
          <a:p>
            <a:r>
              <a:rPr lang="en-US" sz="2400" dirty="0" smtClean="0"/>
              <a:t>Where:</a:t>
            </a:r>
          </a:p>
          <a:p>
            <a:r>
              <a:rPr lang="en-US" sz="2400" dirty="0" smtClean="0"/>
              <a:t>w → weight vector</a:t>
            </a:r>
          </a:p>
          <a:p>
            <a:r>
              <a:rPr lang="en-US" sz="2400" dirty="0" smtClean="0"/>
              <a:t>b → bias</a:t>
            </a:r>
          </a:p>
          <a:p>
            <a:r>
              <a:rPr lang="en-US" sz="2400" dirty="0" smtClean="0"/>
              <a:t>x → transaction feature vector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pull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Steps used on </a:t>
            </a:r>
            <a:r>
              <a:rPr lang="en-GB" sz="2400" b="1" dirty="0" smtClean="0"/>
              <a:t>creditcard.csv</a:t>
            </a:r>
            <a:r>
              <a:rPr lang="en-GB" sz="2400" dirty="0" smtClean="0"/>
              <a:t>:</a:t>
            </a:r>
          </a:p>
          <a:p>
            <a:r>
              <a:rPr lang="en-GB" sz="2400" dirty="0" smtClean="0"/>
              <a:t>No missing values</a:t>
            </a:r>
          </a:p>
          <a:p>
            <a:r>
              <a:rPr lang="en-GB" sz="2400" dirty="0" smtClean="0"/>
              <a:t>Feature scaling using </a:t>
            </a:r>
            <a:r>
              <a:rPr lang="en-GB" sz="2400" b="1" dirty="0" err="1" smtClean="0"/>
              <a:t>StandardScaler</a:t>
            </a:r>
            <a:endParaRPr lang="en-GB" sz="2400" dirty="0" smtClean="0"/>
          </a:p>
          <a:p>
            <a:r>
              <a:rPr lang="en-GB" sz="2400" dirty="0" smtClean="0"/>
              <a:t>Train–Test split (Stratified)</a:t>
            </a:r>
          </a:p>
          <a:p>
            <a:r>
              <a:rPr lang="en-GB" sz="2400" dirty="0" smtClean="0"/>
              <a:t>Class imbalance handled by:</a:t>
            </a:r>
          </a:p>
          <a:p>
            <a:pPr lvl="1"/>
            <a:r>
              <a:rPr lang="en-GB" sz="2400" dirty="0" err="1" smtClean="0"/>
              <a:t>class_weight</a:t>
            </a:r>
            <a:r>
              <a:rPr lang="en-GB" sz="2400" dirty="0" smtClean="0"/>
              <a:t>='balanced'</a:t>
            </a:r>
          </a:p>
          <a:p>
            <a:r>
              <a:rPr lang="en-GB" sz="2400" dirty="0" smtClean="0"/>
              <a:t>Ensures fair learning from minority fraud cases.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Training &amp;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Algorithm: SVM (Linear / RBF Kernel)</a:t>
            </a:r>
          </a:p>
          <a:p>
            <a:r>
              <a:rPr lang="en-US" sz="2400" dirty="0" smtClean="0"/>
              <a:t>Metrics Used:</a:t>
            </a:r>
          </a:p>
          <a:p>
            <a:pPr lvl="1"/>
            <a:r>
              <a:rPr lang="en-US" sz="2400" dirty="0" smtClean="0"/>
              <a:t>Confusion Matrix</a:t>
            </a:r>
          </a:p>
          <a:p>
            <a:pPr lvl="1"/>
            <a:r>
              <a:rPr lang="en-US" sz="2400" dirty="0" smtClean="0"/>
              <a:t>Precision</a:t>
            </a:r>
          </a:p>
          <a:p>
            <a:pPr lvl="1"/>
            <a:r>
              <a:rPr lang="en-US" sz="2400" dirty="0" smtClean="0"/>
              <a:t>Recall</a:t>
            </a:r>
          </a:p>
          <a:p>
            <a:pPr lvl="1"/>
            <a:r>
              <a:rPr lang="en-US" sz="2400" dirty="0" smtClean="0"/>
              <a:t>F1-Score</a:t>
            </a:r>
          </a:p>
          <a:p>
            <a:r>
              <a:rPr lang="en-US" sz="2400" b="1" dirty="0" smtClean="0"/>
              <a:t>Focus </a:t>
            </a:r>
            <a:r>
              <a:rPr lang="en-US" sz="2400" b="1" dirty="0" smtClean="0"/>
              <a:t>Metric:</a:t>
            </a:r>
            <a:r>
              <a:rPr lang="en-US" sz="2400" dirty="0" smtClean="0"/>
              <a:t> Recall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SVM effectively detects fraud in </a:t>
            </a:r>
            <a:r>
              <a:rPr lang="en-US" sz="2400" b="1" dirty="0" smtClean="0"/>
              <a:t>creditcard.csv</a:t>
            </a:r>
            <a:endParaRPr lang="en-US" sz="2400" dirty="0" smtClean="0"/>
          </a:p>
          <a:p>
            <a:r>
              <a:rPr lang="en-US" sz="2400" dirty="0" smtClean="0"/>
              <a:t>Handles high-dimensional and imbalanced data</a:t>
            </a:r>
          </a:p>
          <a:p>
            <a:r>
              <a:rPr lang="en-US" sz="2400" dirty="0" smtClean="0"/>
              <a:t>Linear SVM is faster; RBF is more accurate</a:t>
            </a:r>
          </a:p>
          <a:p>
            <a:r>
              <a:rPr lang="en-US" sz="2400" dirty="0" smtClean="0"/>
              <a:t>Suitable for academic and banking use cases</a:t>
            </a:r>
          </a:p>
          <a:p>
            <a:endParaRPr lang="en-US" sz="2400" dirty="0" smtClean="0"/>
          </a:p>
          <a:p>
            <a:r>
              <a:rPr lang="en-US" sz="2400" b="1" dirty="0" smtClean="0"/>
              <a:t>Final </a:t>
            </a:r>
            <a:r>
              <a:rPr lang="en-US" sz="2400" b="1" dirty="0" smtClean="0"/>
              <a:t>Outcome: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Accurate and reliable fraud detection system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hank You Stock Photos, Images and Backgrounds for Free Downloa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16</TotalTime>
  <Words>288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Solstice</vt:lpstr>
      <vt:lpstr>Credit Card Fraud Detection Using Support Vector Machine (SVM)</vt:lpstr>
      <vt:lpstr>Introduction</vt:lpstr>
      <vt:lpstr>Problem Statement</vt:lpstr>
      <vt:lpstr>Dataset Description</vt:lpstr>
      <vt:lpstr>Why SVM for This Dataset?</vt:lpstr>
      <vt:lpstr>SVM Working </vt:lpstr>
      <vt:lpstr>Data Preprocessing</vt:lpstr>
      <vt:lpstr>Model Training &amp; Evaluation</vt:lpstr>
      <vt:lpstr>Conclusion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5</cp:revision>
  <dcterms:created xsi:type="dcterms:W3CDTF">2026-01-19T09:41:46Z</dcterms:created>
  <dcterms:modified xsi:type="dcterms:W3CDTF">2026-01-19T09:57:54Z</dcterms:modified>
</cp:coreProperties>
</file>
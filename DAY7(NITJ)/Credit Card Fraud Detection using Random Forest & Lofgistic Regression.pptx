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BAFD928-1E5B-4633-ACDB-4A0448F257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E43070E-29F5-4D3F-BCDE-5B1A9C2716A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3688" y="1268760"/>
            <a:ext cx="6840760" cy="18288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Credit Card Fraud Detection using Random Forest &amp; Logistic Regression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3717032"/>
            <a:ext cx="7448128" cy="1290613"/>
          </a:xfrm>
        </p:spPr>
        <p:txBody>
          <a:bodyPr>
            <a:noAutofit/>
          </a:bodyPr>
          <a:lstStyle/>
          <a:p>
            <a:endParaRPr lang="en-GB" sz="2000" dirty="0" smtClean="0"/>
          </a:p>
          <a:p>
            <a:r>
              <a:rPr lang="en-GB" sz="2000" dirty="0" smtClean="0"/>
              <a:t>Prashant Kumar(BTECH(CSE))</a:t>
            </a:r>
            <a:endParaRPr lang="en-GB" sz="2000" dirty="0" smtClean="0"/>
          </a:p>
          <a:p>
            <a:r>
              <a:rPr lang="en-GB" sz="2000" dirty="0" smtClean="0"/>
              <a:t>AI And ML Internship From NIT Jalandhar,Punjab</a:t>
            </a:r>
          </a:p>
          <a:p>
            <a:r>
              <a:rPr lang="en-US" sz="2000" b="1" dirty="0" smtClean="0"/>
              <a:t>Tools &amp; Technologies: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Python, Scikit-Learn, Google Colab</a:t>
            </a:r>
            <a:endParaRPr lang="en-GB" sz="2000" dirty="0" smtClean="0"/>
          </a:p>
          <a:p>
            <a:r>
              <a:rPr lang="en-GB" sz="2000" dirty="0" smtClean="0"/>
              <a:t>Instructor : DR. Neeraj Kumar</a:t>
            </a:r>
            <a:endParaRPr lang="en-GB" sz="2000" dirty="0" smtClean="0"/>
          </a:p>
          <a:p>
            <a:endParaRPr lang="en-US" sz="2000" dirty="0"/>
          </a:p>
        </p:txBody>
      </p: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Each credit card transaction is represented as a numerical feature vector:</a:t>
            </a:r>
          </a:p>
          <a:p>
            <a:r>
              <a:rPr lang="en-GB" sz="2400" dirty="0" err="1" smtClean="0"/>
              <a:t>x∈</a:t>
            </a:r>
            <a:r>
              <a:rPr lang="en-GB" sz="2400" dirty="0" err="1" smtClean="0"/>
              <a:t>Rn</a:t>
            </a:r>
            <a:r>
              <a:rPr lang="en-GB" sz="2400" dirty="0" smtClean="0"/>
              <a:t> </a:t>
            </a:r>
          </a:p>
          <a:p>
            <a:r>
              <a:rPr lang="en-GB" sz="2400" dirty="0" smtClean="0"/>
              <a:t>The </a:t>
            </a:r>
            <a:r>
              <a:rPr lang="en-GB" sz="2400" dirty="0" smtClean="0"/>
              <a:t>corresponding output label is:</a:t>
            </a:r>
          </a:p>
          <a:p>
            <a:r>
              <a:rPr lang="en-GB" sz="2400" dirty="0" smtClean="0"/>
              <a:t>y∈{0,1</a:t>
            </a:r>
            <a:r>
              <a:rPr lang="en-GB" sz="2400" dirty="0" smtClean="0"/>
              <a:t>}</a:t>
            </a:r>
          </a:p>
          <a:p>
            <a:pPr>
              <a:buNone/>
            </a:pPr>
            <a:r>
              <a:rPr lang="en-GB" sz="2400" dirty="0" smtClean="0"/>
              <a:t> </a:t>
            </a:r>
            <a:r>
              <a:rPr lang="en-GB" sz="2400" dirty="0" smtClean="0"/>
              <a:t>       </a:t>
            </a:r>
            <a:r>
              <a:rPr lang="en-GB" sz="2400" dirty="0" smtClean="0"/>
              <a:t>Where:</a:t>
            </a:r>
          </a:p>
          <a:p>
            <a:r>
              <a:rPr lang="en-GB" sz="2400" dirty="0" smtClean="0"/>
              <a:t>0 represents a legitimate transaction</a:t>
            </a:r>
          </a:p>
          <a:p>
            <a:r>
              <a:rPr lang="en-GB" sz="2400" dirty="0" smtClean="0"/>
              <a:t>1 represents a fraudulent transaction</a:t>
            </a:r>
          </a:p>
          <a:p>
            <a:r>
              <a:rPr lang="en-GB" sz="2400" dirty="0" smtClean="0"/>
              <a:t>The objective is to correctly classify transactions into these two categories.</a:t>
            </a:r>
            <a:endParaRPr lang="en-GB" sz="240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The dataset used for this work is highly imbalanced, with fraudulent transactions being extremely rare compared to genuine ones.</a:t>
            </a:r>
          </a:p>
          <a:p>
            <a:r>
              <a:rPr lang="en-GB" dirty="0" smtClean="0"/>
              <a:t>Mathematically:</a:t>
            </a:r>
          </a:p>
          <a:p>
            <a:r>
              <a:rPr lang="en-GB" dirty="0" smtClean="0"/>
              <a:t>P(y=1</a:t>
            </a:r>
            <a:r>
              <a:rPr lang="en-GB" dirty="0" smtClean="0"/>
              <a:t>) ≪ P(y=0) </a:t>
            </a:r>
            <a:r>
              <a:rPr lang="en-GB" dirty="0" smtClean="0"/>
              <a:t>This imbalance makes accuracy an unreliable metric, as a model predicting all transactions as genuine would still achieve high accuracy without detecting fraud.</a:t>
            </a:r>
          </a:p>
          <a:p>
            <a:endParaRPr lang="en-US" dirty="0"/>
          </a:p>
        </p:txBody>
      </p:sp>
    </p:spTree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Data </a:t>
            </a:r>
            <a:r>
              <a:rPr lang="en-GB" sz="2800" dirty="0" err="1" smtClean="0"/>
              <a:t>preprocessing</a:t>
            </a:r>
            <a:r>
              <a:rPr lang="en-GB" sz="2800" dirty="0" smtClean="0"/>
              <a:t> is performed to improve model performance. Feature scaling ensures all variables contribute equally to model training.</a:t>
            </a:r>
          </a:p>
          <a:p>
            <a:r>
              <a:rPr lang="en-GB" sz="2800" dirty="0" smtClean="0"/>
              <a:t>Standardization formula:</a:t>
            </a:r>
          </a:p>
          <a:p>
            <a:r>
              <a:rPr lang="en-GB" sz="2800" dirty="0" smtClean="0"/>
              <a:t>x</a:t>
            </a:r>
            <a:r>
              <a:rPr lang="en-GB" sz="2800" dirty="0" smtClean="0"/>
              <a:t>′=(x</a:t>
            </a:r>
            <a:r>
              <a:rPr lang="en-GB" sz="2800" dirty="0" smtClean="0"/>
              <a:t>−</a:t>
            </a:r>
            <a:r>
              <a:rPr lang="en-GB" sz="2800" dirty="0" smtClean="0"/>
              <a:t>μ)/σ</a:t>
            </a:r>
          </a:p>
          <a:p>
            <a:r>
              <a:rPr lang="en-GB" sz="2800" dirty="0" smtClean="0"/>
              <a:t>​ </a:t>
            </a:r>
            <a:r>
              <a:rPr lang="en-GB" sz="2800" dirty="0" smtClean="0"/>
              <a:t>Class imbalance is handled using class-weighted learning to increase the importance of fraud cases during training.</a:t>
            </a:r>
          </a:p>
          <a:p>
            <a:endParaRPr lang="en-US" sz="2800" dirty="0"/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Logistic Regression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Logistic </a:t>
            </a:r>
            <a:r>
              <a:rPr lang="en-US" dirty="0" smtClean="0"/>
              <a:t>Regression estimates the probability of a transaction being fraudulent using the sigmoid function:</a:t>
            </a:r>
          </a:p>
          <a:p>
            <a:r>
              <a:rPr lang="en-US" dirty="0" smtClean="0"/>
              <a:t>P(y=1∣x)=</a:t>
            </a:r>
            <a:r>
              <a:rPr lang="en-US" dirty="0" smtClean="0"/>
              <a:t>1/(1+e</a:t>
            </a:r>
            <a:r>
              <a:rPr lang="en-US" dirty="0" smtClean="0"/>
              <a:t>−(</a:t>
            </a:r>
            <a:r>
              <a:rPr lang="en-US" dirty="0" err="1" smtClean="0"/>
              <a:t>w⋅x+b</a:t>
            </a:r>
            <a:r>
              <a:rPr lang="en-US" dirty="0" smtClean="0"/>
              <a:t>))</a:t>
            </a:r>
          </a:p>
          <a:p>
            <a:r>
              <a:rPr lang="en-US" dirty="0" smtClean="0"/>
              <a:t>This </a:t>
            </a:r>
            <a:r>
              <a:rPr lang="en-US" dirty="0" smtClean="0"/>
              <a:t>model is computationally efficient, interpretable, and serves as a strong baseline for fraud detection tasks.</a:t>
            </a:r>
            <a:endParaRPr lang="en-US" dirty="0"/>
          </a:p>
        </p:txBody>
      </p:sp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Forest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smtClean="0"/>
              <a:t>Random Forest is an ensemble learning technique that combines multiple decision trees trained on random subsets of data.</a:t>
            </a:r>
          </a:p>
          <a:p>
            <a:r>
              <a:rPr lang="en-GB" dirty="0" smtClean="0"/>
              <a:t>The final prediction is obtained through majority voting among trees, which improves robustness and reduces </a:t>
            </a:r>
            <a:r>
              <a:rPr lang="en-GB" dirty="0" err="1" smtClean="0"/>
              <a:t>overfitting</a:t>
            </a:r>
            <a:r>
              <a:rPr lang="en-GB" dirty="0" smtClean="0"/>
              <a:t>. Random Forest is well-suited for capturing complex and non-linear fraud patterns.</a:t>
            </a:r>
            <a:endParaRPr lang="en-GB" dirty="0"/>
          </a:p>
        </p:txBody>
      </p:sp>
    </p:spTree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Evaluation and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   Model </a:t>
            </a:r>
            <a:r>
              <a:rPr lang="en-GB" dirty="0" smtClean="0"/>
              <a:t>performance is evaluated using metrics such as Precision, Recall, F1-score, and ROC-AUC</a:t>
            </a:r>
            <a:r>
              <a:rPr lang="en-GB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3648" y="2924944"/>
          <a:ext cx="6096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ROC-AUC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Performance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Moderate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Baseline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Excellent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Superior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71600" y="4869160"/>
            <a:ext cx="74888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Random Forest demonstrates better recall and overall discrimination capability.</a:t>
            </a:r>
            <a:endParaRPr lang="en-US" sz="2400" dirty="0"/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dirty="0" smtClean="0"/>
              <a:t>   Random </a:t>
            </a:r>
            <a:r>
              <a:rPr lang="en-GB" dirty="0" smtClean="0"/>
              <a:t>Forest outperforms Logistic Regression in detecting fraudulent transactions due to its ability to model complex patterns and handle imbalanced data effectively.</a:t>
            </a:r>
          </a:p>
          <a:p>
            <a:pPr>
              <a:buNone/>
            </a:pPr>
            <a:r>
              <a:rPr lang="en-GB" b="1" dirty="0" smtClean="0"/>
              <a:t>Applications </a:t>
            </a:r>
            <a:r>
              <a:rPr lang="en-GB" b="1" dirty="0" smtClean="0"/>
              <a:t>include:</a:t>
            </a:r>
            <a:endParaRPr lang="en-GB" dirty="0" smtClean="0"/>
          </a:p>
          <a:p>
            <a:r>
              <a:rPr lang="en-GB" dirty="0" smtClean="0"/>
              <a:t>Banking and financial institutions</a:t>
            </a:r>
          </a:p>
          <a:p>
            <a:r>
              <a:rPr lang="en-GB" dirty="0" smtClean="0"/>
              <a:t>Digital payment systems</a:t>
            </a:r>
          </a:p>
          <a:p>
            <a:r>
              <a:rPr lang="en-GB" dirty="0" err="1" smtClean="0"/>
              <a:t>FinTech</a:t>
            </a:r>
            <a:r>
              <a:rPr lang="en-GB" dirty="0" smtClean="0"/>
              <a:t> platforms</a:t>
            </a:r>
          </a:p>
          <a:p>
            <a:r>
              <a:rPr lang="en-GB" dirty="0" smtClean="0"/>
              <a:t>Real-time fraud monitoring systems</a:t>
            </a:r>
          </a:p>
          <a:p>
            <a:r>
              <a:rPr lang="en-GB" dirty="0" smtClean="0"/>
              <a:t>This approach aligns with real-world fraud detection practices.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thank you Vector background 326514 Vector Art at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Free Vector | Thank you background with letter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31</TotalTime>
  <Words>382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Median</vt:lpstr>
      <vt:lpstr>Credit Card Fraud Detection using Random Forest &amp; Logistic Regression</vt:lpstr>
      <vt:lpstr>Problem Statement</vt:lpstr>
      <vt:lpstr>Dataset Characteristics</vt:lpstr>
      <vt:lpstr>Data Preprocessing</vt:lpstr>
      <vt:lpstr>Logistic Regression Model</vt:lpstr>
      <vt:lpstr>Random Forest Model</vt:lpstr>
      <vt:lpstr>Model Evaluation and Comparison</vt:lpstr>
      <vt:lpstr>Conclusion and Applications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Random Forest &amp; Logistic Regression</dc:title>
  <dc:creator>DELL</dc:creator>
  <cp:lastModifiedBy>DELL</cp:lastModifiedBy>
  <cp:revision>4</cp:revision>
  <dcterms:created xsi:type="dcterms:W3CDTF">2026-01-22T08:55:04Z</dcterms:created>
  <dcterms:modified xsi:type="dcterms:W3CDTF">2026-01-22T09:26:48Z</dcterms:modified>
</cp:coreProperties>
</file>
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58" d="100"/>
          <a:sy n="58" d="100"/>
        </p:scale>
        <p:origin x="62" y="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021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7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12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77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22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63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6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86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488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540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835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5073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493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289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046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246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0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05D838C-D285-404A-95A5-34B3ECBFC54A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45830FA-8B18-4C97-BE63-232FB3112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421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9567D-F9E0-D1BE-7BF9-6C49EAAB7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910" y="881644"/>
            <a:ext cx="10224959" cy="1828801"/>
          </a:xfrm>
        </p:spPr>
        <p:txBody>
          <a:bodyPr>
            <a:normAutofit/>
          </a:bodyPr>
          <a:lstStyle/>
          <a:p>
            <a:r>
              <a:rPr lang="en-GB" sz="4400" dirty="0"/>
              <a:t>Credit Card Fraud Detection using </a:t>
            </a:r>
            <a:r>
              <a:rPr lang="en-GB" sz="4400" dirty="0" err="1"/>
              <a:t>XGBoost</a:t>
            </a:r>
            <a:r>
              <a:rPr lang="en-GB" sz="4400" dirty="0"/>
              <a:t> and </a:t>
            </a:r>
            <a:r>
              <a:rPr lang="en-GB" sz="4400" dirty="0" err="1"/>
              <a:t>CatBoost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23D365-9BF2-A9A3-CB97-58C6C11FAD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GB" sz="2400" dirty="0"/>
              <a:t>Machine Learning Based Fraud Detection System</a:t>
            </a:r>
          </a:p>
          <a:p>
            <a:r>
              <a:rPr lang="en-GB" sz="2400" dirty="0"/>
              <a:t>Domain: Banking &amp; Financial Security</a:t>
            </a:r>
          </a:p>
          <a:p>
            <a:r>
              <a:rPr lang="en-GB" sz="2400" dirty="0"/>
              <a:t>Dataset: Credit Card Transaction Data</a:t>
            </a:r>
          </a:p>
          <a:p>
            <a:r>
              <a:rPr lang="en-GB" sz="2400" b="1" dirty="0"/>
              <a:t>Prepared by:</a:t>
            </a:r>
            <a:r>
              <a:rPr lang="en-GB" sz="2400" dirty="0"/>
              <a:t> Prashant Kumar</a:t>
            </a:r>
            <a:br>
              <a:rPr lang="en-GB" sz="2400" dirty="0"/>
            </a:br>
            <a:r>
              <a:rPr lang="en-GB" sz="2400" b="1" dirty="0"/>
              <a:t>Department:</a:t>
            </a:r>
            <a:r>
              <a:rPr lang="en-GB" sz="2400" dirty="0"/>
              <a:t> Computer Science &amp; Engineering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23761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69E9-FCE7-1F4B-2557-9368717A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5D399-98F2-1979-46FF-DF5D7CA3F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Growth of digital payments has increased fraud risks</a:t>
            </a:r>
          </a:p>
          <a:p>
            <a:r>
              <a:rPr lang="en-GB" sz="2800" dirty="0"/>
              <a:t>Credit card fraud causes financial losses and customer dissatisfaction</a:t>
            </a:r>
          </a:p>
          <a:p>
            <a:r>
              <a:rPr lang="en-GB" sz="2800" dirty="0"/>
              <a:t>Traditional systems fail to detect complex fraud patterns</a:t>
            </a:r>
          </a:p>
          <a:p>
            <a:r>
              <a:rPr lang="en-GB" sz="2800" dirty="0"/>
              <a:t>Machine learning enables accurate and automated fraud detection</a:t>
            </a:r>
          </a:p>
          <a:p>
            <a:r>
              <a:rPr lang="en-GB" sz="2800" b="1" dirty="0"/>
              <a:t>Objective:</a:t>
            </a:r>
            <a:br>
              <a:rPr lang="en-GB" sz="2800" dirty="0"/>
            </a:br>
            <a:r>
              <a:rPr lang="en-GB" sz="2800" dirty="0"/>
              <a:t>To detect fraudulent transactions using advanced boosting algorithms.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177860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DD4B-08BA-89E0-A0C7-9C09C600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9721FA-726A-A8E3-05EB-CF9929D401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776665"/>
            <a:ext cx="854272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 detection is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classification problem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Transactions are classified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Legitimate 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Fraudulent 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 challenges: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imbalanced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and evolving fraud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high recall and precision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3662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D378-F4C4-2405-6938-DA1AC428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72647-69F9-DB32-7CB2-54ADD415B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Dataset contains anonymized credit card transactions</a:t>
            </a:r>
          </a:p>
          <a:p>
            <a:r>
              <a:rPr lang="en-GB" sz="2800" dirty="0"/>
              <a:t>Features are numerical and privacy-protected</a:t>
            </a:r>
          </a:p>
          <a:p>
            <a:r>
              <a:rPr lang="en-GB" sz="2800" dirty="0"/>
              <a:t>Target variable:</a:t>
            </a:r>
          </a:p>
          <a:p>
            <a:pPr lvl="1"/>
            <a:r>
              <a:rPr lang="en-GB" sz="2800" dirty="0"/>
              <a:t>Class = 0 → Normal transaction</a:t>
            </a:r>
          </a:p>
          <a:p>
            <a:pPr lvl="1"/>
            <a:r>
              <a:rPr lang="en-GB" sz="2800" dirty="0"/>
              <a:t>Class = 1 → Fraudulent transaction</a:t>
            </a:r>
          </a:p>
          <a:p>
            <a:r>
              <a:rPr lang="en-GB" sz="2800" b="1" dirty="0"/>
              <a:t>Observation:</a:t>
            </a:r>
            <a:br>
              <a:rPr lang="en-GB" sz="2800" dirty="0"/>
            </a:br>
            <a:r>
              <a:rPr lang="en-GB" sz="2800" dirty="0"/>
              <a:t>Fraud cases form a very small portion of the dataset.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8558264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FAABD-8DC5-8EA9-33B9-7D67D3C3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Mathematical Intuition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416D3-D760-8602-A2F3-84077CE2B4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sz="2800" dirty="0"/>
                  <a:t>Each transaction is represented as a feature vector:</a:t>
                </a:r>
              </a:p>
              <a:p>
                <a14:m>
                  <m:oMath xmlns:m="http://schemas.openxmlformats.org/officeDocument/2006/math">
                    <m:r>
                      <a:rPr lang="en-IN" sz="2800" i="1"/>
                      <m:t>𝑋</m:t>
                    </m:r>
                    <m:r>
                      <a:rPr lang="en-IN" sz="2800"/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2800" i="1"/>
                        </m:ctrlPr>
                      </m:dPr>
                      <m:e>
                        <m:sSub>
                          <m:sSubPr>
                            <m:ctrlPr>
                              <a:rPr lang="ar-AE" sz="2800" i="1"/>
                            </m:ctrlPr>
                          </m:sSubPr>
                          <m:e>
                            <m:r>
                              <a:rPr lang="ar-AE" sz="2800" i="1"/>
                              <m:t>𝑥</m:t>
                            </m:r>
                          </m:e>
                          <m:sub>
                            <m:r>
                              <a:rPr lang="ar-AE" sz="2800"/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800" i="1"/>
                            </m:ctrlPr>
                          </m:sSubPr>
                          <m:e>
                            <m:r>
                              <a:rPr lang="ar-AE" sz="2800" i="1"/>
                              <m:t>𝑥</m:t>
                            </m:r>
                          </m:e>
                          <m:sub>
                            <m:r>
                              <a:rPr lang="ar-AE" sz="2800"/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800" i="1"/>
                            </m:ctrlPr>
                          </m:sSubPr>
                          <m:e>
                            <m:r>
                              <a:rPr lang="ar-AE" sz="2800" i="1"/>
                              <m:t>𝑥</m:t>
                            </m:r>
                          </m:e>
                          <m:sub>
                            <m:r>
                              <a:rPr lang="ar-AE" sz="2800"/>
                              <m:t>3</m:t>
                            </m:r>
                          </m:sub>
                        </m:sSub>
                      </m:e>
                      <m:e>
                        <m:r>
                          <a:rPr lang="ar-AE" sz="2800"/>
                          <m:t>.</m:t>
                        </m:r>
                      </m:e>
                      <m:e>
                        <m:r>
                          <a:rPr lang="ar-AE" sz="2800"/>
                          <m:t>..</m:t>
                        </m:r>
                        <m:sSub>
                          <m:sSubPr>
                            <m:ctrlPr>
                              <a:rPr lang="ar-AE" sz="2800" i="1"/>
                            </m:ctrlPr>
                          </m:sSubPr>
                          <m:e>
                            <m:r>
                              <a:rPr lang="ar-AE" sz="2800" i="1"/>
                              <m:t>𝑥</m:t>
                            </m:r>
                          </m:e>
                          <m:sub>
                            <m:r>
                              <a:rPr lang="ar-AE" sz="2800" i="1"/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sz="2800" dirty="0"/>
              </a:p>
              <a:p>
                <a:r>
                  <a:rPr lang="en-IN" sz="2800" dirty="0"/>
                  <a:t>The model learns a probability function:</a:t>
                </a:r>
              </a:p>
              <a:p>
                <a14:m>
                  <m:oMath xmlns:m="http://schemas.openxmlformats.org/officeDocument/2006/math">
                    <m:r>
                      <a:rPr lang="en-IN" sz="2800" i="1"/>
                      <m:t>𝑃</m:t>
                    </m:r>
                    <m:d>
                      <m:dPr>
                        <m:ctrlPr>
                          <a:rPr lang="ar-AE" sz="2800" i="1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800" i="1"/>
                          <m:t>Fraud</m:t>
                        </m:r>
                        <m:r>
                          <a:rPr lang="en-IN" sz="2800"/>
                          <m:t>∣</m:t>
                        </m:r>
                        <m:r>
                          <a:rPr lang="en-IN" sz="2800" i="1"/>
                          <m:t>𝑋</m:t>
                        </m:r>
                      </m:e>
                    </m:d>
                  </m:oMath>
                </a14:m>
                <a:endParaRPr lang="ar-AE" sz="2800" b="0" dirty="0"/>
              </a:p>
              <a:p>
                <a:r>
                  <a:rPr lang="en-IN" sz="2800" dirty="0"/>
                  <a:t>Output is a probability score between 0 and 1</a:t>
                </a:r>
              </a:p>
              <a:p>
                <a:r>
                  <a:rPr lang="en-IN" sz="2800" dirty="0"/>
                  <a:t>Higher probability indicates higher fraud risk</a:t>
                </a:r>
              </a:p>
              <a:p>
                <a:endParaRPr lang="en-IN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6416D3-D760-8602-A2F3-84077CE2B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33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049B-0329-94D8-55A5-AE4ED2D71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XGBoost</a:t>
            </a:r>
            <a:r>
              <a:rPr lang="en-IN" dirty="0"/>
              <a:t>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716E8-CADA-B908-8EE4-93CDBEF70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Extreme Gradient Boosting algorithm</a:t>
            </a:r>
          </a:p>
          <a:p>
            <a:r>
              <a:rPr lang="en-GB" sz="2800" dirty="0"/>
              <a:t>Builds trees sequentially to minimize prediction error</a:t>
            </a:r>
          </a:p>
          <a:p>
            <a:r>
              <a:rPr lang="en-GB" sz="2800" dirty="0"/>
              <a:t>Uses regularization to avoid overfitting</a:t>
            </a:r>
          </a:p>
          <a:p>
            <a:r>
              <a:rPr lang="en-GB" sz="2800" b="1" dirty="0"/>
              <a:t>Advantages:</a:t>
            </a:r>
            <a:endParaRPr lang="en-GB" sz="2800" dirty="0"/>
          </a:p>
          <a:p>
            <a:r>
              <a:rPr lang="en-GB" sz="2800" dirty="0"/>
              <a:t>High accuracy and efficiency</a:t>
            </a:r>
          </a:p>
          <a:p>
            <a:r>
              <a:rPr lang="en-GB" sz="2800" dirty="0"/>
              <a:t>Handles large and complex datasets</a:t>
            </a:r>
          </a:p>
          <a:p>
            <a:r>
              <a:rPr lang="en-GB" sz="2800" dirty="0"/>
              <a:t>Widely used in financial institutions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83182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CED22-C36B-83F6-B1A4-1EC2DD73A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CatBoost</a:t>
            </a:r>
            <a:r>
              <a:rPr lang="en-IN" dirty="0"/>
              <a:t>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FF3F4-A7B3-C3B5-4967-0D6A54DA7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dirty="0"/>
              <a:t>Gradient boosting algorithm developed by Yandex</a:t>
            </a:r>
          </a:p>
          <a:p>
            <a:r>
              <a:rPr lang="en-GB" sz="2800" dirty="0"/>
              <a:t>Handles categorical features effectively</a:t>
            </a:r>
          </a:p>
          <a:p>
            <a:r>
              <a:rPr lang="en-GB" sz="2800" dirty="0"/>
              <a:t>Uses ordered boosting to reduce prediction bias</a:t>
            </a:r>
          </a:p>
          <a:p>
            <a:r>
              <a:rPr lang="en-GB" sz="2800" b="1" dirty="0"/>
              <a:t>Advantages:</a:t>
            </a:r>
            <a:endParaRPr lang="en-GB" sz="2800" dirty="0"/>
          </a:p>
          <a:p>
            <a:r>
              <a:rPr lang="en-GB" sz="2800" dirty="0"/>
              <a:t>High performance with minimal preprocessing</a:t>
            </a:r>
          </a:p>
          <a:p>
            <a:r>
              <a:rPr lang="en-GB" sz="2800" dirty="0"/>
              <a:t>Robust against overfitting</a:t>
            </a:r>
          </a:p>
          <a:p>
            <a:r>
              <a:rPr lang="en-GB" sz="2800" dirty="0"/>
              <a:t>Stable and reliable predictions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588456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06DE5-881D-93DD-F43C-0109F1559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Training &amp;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F2A40-BD12-33DB-96E1-7B4915D87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dirty="0"/>
              <a:t>Dataset split into training and testing sets</a:t>
            </a:r>
          </a:p>
          <a:p>
            <a:r>
              <a:rPr lang="en-IN" dirty="0"/>
              <a:t>Models trained:</a:t>
            </a:r>
          </a:p>
          <a:p>
            <a:pPr lvl="1"/>
            <a:r>
              <a:rPr lang="en-IN" sz="2000" dirty="0" err="1"/>
              <a:t>XGBoost</a:t>
            </a:r>
            <a:endParaRPr lang="en-IN" sz="2000" dirty="0"/>
          </a:p>
          <a:p>
            <a:pPr lvl="1"/>
            <a:r>
              <a:rPr lang="en-IN" sz="2000" dirty="0" err="1"/>
              <a:t>CatBoost</a:t>
            </a:r>
            <a:endParaRPr lang="en-IN" sz="2000" dirty="0"/>
          </a:p>
          <a:p>
            <a:r>
              <a:rPr lang="en-IN" dirty="0"/>
              <a:t>Evaluation metrics:</a:t>
            </a:r>
          </a:p>
          <a:p>
            <a:pPr lvl="1"/>
            <a:r>
              <a:rPr lang="en-IN" sz="2000" dirty="0"/>
              <a:t>Precision</a:t>
            </a:r>
          </a:p>
          <a:p>
            <a:pPr lvl="1"/>
            <a:r>
              <a:rPr lang="en-IN" sz="2000" dirty="0"/>
              <a:t>Recall</a:t>
            </a:r>
          </a:p>
          <a:p>
            <a:pPr lvl="1"/>
            <a:r>
              <a:rPr lang="en-IN" sz="2000" dirty="0"/>
              <a:t>F1-score</a:t>
            </a:r>
          </a:p>
          <a:p>
            <a:pPr lvl="1"/>
            <a:r>
              <a:rPr lang="en-IN" sz="2000" dirty="0"/>
              <a:t>ROC–AUC</a:t>
            </a:r>
          </a:p>
          <a:p>
            <a:r>
              <a:rPr lang="en-IN" b="1" dirty="0"/>
              <a:t>Focus:</a:t>
            </a:r>
            <a:br>
              <a:rPr lang="en-IN" dirty="0"/>
            </a:br>
            <a:r>
              <a:rPr lang="en-IN" dirty="0"/>
              <a:t>Detecting rare fraudulent transactions accurately.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8958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2B40-054D-1EA5-F30E-F7DE2F72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E0164-7B4A-D244-9D3C-3A9AD5F17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dirty="0" err="1"/>
              <a:t>XGBoost</a:t>
            </a:r>
            <a:r>
              <a:rPr lang="en-GB" sz="2800" dirty="0"/>
              <a:t>:</a:t>
            </a:r>
          </a:p>
          <a:p>
            <a:pPr lvl="1"/>
            <a:r>
              <a:rPr lang="en-GB" sz="2800" dirty="0"/>
              <a:t>Excellent predictive performance</a:t>
            </a:r>
          </a:p>
          <a:p>
            <a:pPr lvl="1"/>
            <a:r>
              <a:rPr lang="en-GB" sz="2800" dirty="0"/>
              <a:t>Strong generalization ability</a:t>
            </a:r>
          </a:p>
          <a:p>
            <a:r>
              <a:rPr lang="en-GB" sz="2800" dirty="0" err="1"/>
              <a:t>CatBoost</a:t>
            </a:r>
            <a:r>
              <a:rPr lang="en-GB" sz="2800" dirty="0"/>
              <a:t>:</a:t>
            </a:r>
          </a:p>
          <a:p>
            <a:pPr lvl="1"/>
            <a:r>
              <a:rPr lang="en-GB" sz="2800" dirty="0"/>
              <a:t>Consistent and stable predictions</a:t>
            </a:r>
          </a:p>
          <a:p>
            <a:pPr lvl="1"/>
            <a:r>
              <a:rPr lang="en-GB" sz="2800" dirty="0"/>
              <a:t>Reduced overfitting risk</a:t>
            </a:r>
          </a:p>
          <a:p>
            <a:r>
              <a:rPr lang="en-GB" sz="2800" dirty="0"/>
              <a:t>Both models effectively identify fraudulent transactions.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615423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45B3-1BF9-7877-469A-62E7ECA7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9110A-B331-E3E5-0CD5-C3096C46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800" b="1" dirty="0"/>
              <a:t>Conclusion:</a:t>
            </a:r>
            <a:endParaRPr lang="en-GB" sz="2800" dirty="0"/>
          </a:p>
          <a:p>
            <a:r>
              <a:rPr lang="en-GB" sz="2800" dirty="0"/>
              <a:t>Boosting algorithms are highly effective for fraud detection</a:t>
            </a:r>
          </a:p>
          <a:p>
            <a:r>
              <a:rPr lang="en-GB" sz="2800" dirty="0" err="1"/>
              <a:t>XGBoost</a:t>
            </a:r>
            <a:r>
              <a:rPr lang="en-GB" sz="2800" dirty="0"/>
              <a:t> and </a:t>
            </a:r>
            <a:r>
              <a:rPr lang="en-GB" sz="2800" dirty="0" err="1"/>
              <a:t>CatBoost</a:t>
            </a:r>
            <a:r>
              <a:rPr lang="en-GB" sz="2800" dirty="0"/>
              <a:t> complement each other</a:t>
            </a:r>
          </a:p>
          <a:p>
            <a:r>
              <a:rPr lang="en-GB" sz="2800" dirty="0"/>
              <a:t>System is suitable for real-world financial applications</a:t>
            </a:r>
          </a:p>
          <a:p>
            <a:r>
              <a:rPr lang="en-GB" sz="2800" b="1" dirty="0"/>
              <a:t>Future Scope:</a:t>
            </a:r>
            <a:endParaRPr lang="en-GB" sz="2800" dirty="0"/>
          </a:p>
          <a:p>
            <a:r>
              <a:rPr lang="en-GB" sz="2800" dirty="0"/>
              <a:t>Real-time fraud monitoring</a:t>
            </a:r>
          </a:p>
          <a:p>
            <a:r>
              <a:rPr lang="en-GB" sz="2800" dirty="0"/>
              <a:t>Explainable AI integration</a:t>
            </a:r>
          </a:p>
          <a:p>
            <a:r>
              <a:rPr lang="en-GB" sz="2800" dirty="0"/>
              <a:t>Deployment using web or cloud platforms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91845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</TotalTime>
  <Words>374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Wingdings 2</vt:lpstr>
      <vt:lpstr>Slate</vt:lpstr>
      <vt:lpstr>Credit Card Fraud Detection using XGBoost and CatBoost</vt:lpstr>
      <vt:lpstr>Introduction</vt:lpstr>
      <vt:lpstr>Problem Statement</vt:lpstr>
      <vt:lpstr>Dataset Description</vt:lpstr>
      <vt:lpstr>Mathematical Intuition </vt:lpstr>
      <vt:lpstr>XGBoost Classifier</vt:lpstr>
      <vt:lpstr>CatBoost Classifier</vt:lpstr>
      <vt:lpstr>Model Training &amp; Evaluation</vt:lpstr>
      <vt:lpstr>Results &amp; Comparison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Kumar</dc:creator>
  <cp:lastModifiedBy>Prashant Kumar</cp:lastModifiedBy>
  <cp:revision>1</cp:revision>
  <dcterms:created xsi:type="dcterms:W3CDTF">2026-01-27T08:36:06Z</dcterms:created>
  <dcterms:modified xsi:type="dcterms:W3CDTF">2026-01-27T08:43:21Z</dcterms:modified>
</cp:coreProperties>
</file>
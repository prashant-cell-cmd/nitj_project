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853A2-4DDE-42C6-8CFD-E59D45915A5A}" v="31" dt="2026-01-27T06:28:25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202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Kumar" userId="92383e96a51f8e88" providerId="LiveId" clId="{B5E24BC8-A913-49B6-8C9F-97923BEBD7D1}"/>
    <pc:docChg chg="undo custSel addSld modSld addSection delSection">
      <pc:chgData name="Prashant Kumar" userId="92383e96a51f8e88" providerId="LiveId" clId="{B5E24BC8-A913-49B6-8C9F-97923BEBD7D1}" dt="2026-01-27T06:28:25.785" v="52"/>
      <pc:docMkLst>
        <pc:docMk/>
      </pc:docMkLst>
      <pc:sldChg chg="addSp modSp modTransition modAnim">
        <pc:chgData name="Prashant Kumar" userId="92383e96a51f8e88" providerId="LiveId" clId="{B5E24BC8-A913-49B6-8C9F-97923BEBD7D1}" dt="2026-01-27T06:28:25.785" v="52"/>
        <pc:sldMkLst>
          <pc:docMk/>
          <pc:sldMk cId="1820827010" sldId="256"/>
        </pc:sldMkLst>
        <pc:picChg chg="add mod">
          <ac:chgData name="Prashant Kumar" userId="92383e96a51f8e88" providerId="LiveId" clId="{B5E24BC8-A913-49B6-8C9F-97923BEBD7D1}" dt="2026-01-27T06:28:25.785" v="52"/>
          <ac:picMkLst>
            <pc:docMk/>
            <pc:sldMk cId="1820827010" sldId="256"/>
            <ac:picMk id="4" creationId="{79C2E5D9-A6CA-1CC5-B8F8-9D3803C443E2}"/>
          </ac:picMkLst>
        </pc:picChg>
      </pc:sldChg>
      <pc:sldChg chg="modSp new modAnim">
        <pc:chgData name="Prashant Kumar" userId="92383e96a51f8e88" providerId="LiveId" clId="{B5E24BC8-A913-49B6-8C9F-97923BEBD7D1}" dt="2026-01-27T06:23:08.957" v="42"/>
        <pc:sldMkLst>
          <pc:docMk/>
          <pc:sldMk cId="1897479792" sldId="257"/>
        </pc:sldMkLst>
        <pc:spChg chg="mod">
          <ac:chgData name="Prashant Kumar" userId="92383e96a51f8e88" providerId="LiveId" clId="{B5E24BC8-A913-49B6-8C9F-97923BEBD7D1}" dt="2026-01-27T06:17:38.175" v="1"/>
          <ac:spMkLst>
            <pc:docMk/>
            <pc:sldMk cId="1897479792" sldId="257"/>
            <ac:spMk id="2" creationId="{546A15D1-7EB3-0F7A-4B78-27607108F20A}"/>
          </ac:spMkLst>
        </pc:spChg>
        <pc:spChg chg="mod">
          <ac:chgData name="Prashant Kumar" userId="92383e96a51f8e88" providerId="LiveId" clId="{B5E24BC8-A913-49B6-8C9F-97923BEBD7D1}" dt="2026-01-27T06:17:47.979" v="2"/>
          <ac:spMkLst>
            <pc:docMk/>
            <pc:sldMk cId="1897479792" sldId="257"/>
            <ac:spMk id="3" creationId="{9E155F7F-291E-6EBB-1514-0243E4ED2708}"/>
          </ac:spMkLst>
        </pc:spChg>
      </pc:sldChg>
      <pc:sldChg chg="addSp delSp modSp new mod modAnim">
        <pc:chgData name="Prashant Kumar" userId="92383e96a51f8e88" providerId="LiveId" clId="{B5E24BC8-A913-49B6-8C9F-97923BEBD7D1}" dt="2026-01-27T06:23:22.600" v="43"/>
        <pc:sldMkLst>
          <pc:docMk/>
          <pc:sldMk cId="2815451386" sldId="258"/>
        </pc:sldMkLst>
        <pc:spChg chg="mod">
          <ac:chgData name="Prashant Kumar" userId="92383e96a51f8e88" providerId="LiveId" clId="{B5E24BC8-A913-49B6-8C9F-97923BEBD7D1}" dt="2026-01-27T06:18:21.491" v="6"/>
          <ac:spMkLst>
            <pc:docMk/>
            <pc:sldMk cId="2815451386" sldId="258"/>
            <ac:spMk id="2" creationId="{4ECD7AA6-FB71-E2AE-CC94-99B7D9D4D91F}"/>
          </ac:spMkLst>
        </pc:spChg>
        <pc:spChg chg="del">
          <ac:chgData name="Prashant Kumar" userId="92383e96a51f8e88" providerId="LiveId" clId="{B5E24BC8-A913-49B6-8C9F-97923BEBD7D1}" dt="2026-01-27T06:18:28.533" v="7"/>
          <ac:spMkLst>
            <pc:docMk/>
            <pc:sldMk cId="2815451386" sldId="258"/>
            <ac:spMk id="3" creationId="{988F1BE3-4A57-15CA-CC23-35862DA4FDC5}"/>
          </ac:spMkLst>
        </pc:spChg>
        <pc:spChg chg="add mod">
          <ac:chgData name="Prashant Kumar" userId="92383e96a51f8e88" providerId="LiveId" clId="{B5E24BC8-A913-49B6-8C9F-97923BEBD7D1}" dt="2026-01-27T06:19:22.333" v="14" actId="120"/>
          <ac:spMkLst>
            <pc:docMk/>
            <pc:sldMk cId="2815451386" sldId="258"/>
            <ac:spMk id="4" creationId="{24E3AAE1-1C04-4719-4240-E505258B8656}"/>
          </ac:spMkLst>
        </pc:spChg>
      </pc:sldChg>
      <pc:sldChg chg="modSp new mod modAnim">
        <pc:chgData name="Prashant Kumar" userId="92383e96a51f8e88" providerId="LiveId" clId="{B5E24BC8-A913-49B6-8C9F-97923BEBD7D1}" dt="2026-01-27T06:23:43.151" v="44"/>
        <pc:sldMkLst>
          <pc:docMk/>
          <pc:sldMk cId="4293971292" sldId="259"/>
        </pc:sldMkLst>
        <pc:spChg chg="mod">
          <ac:chgData name="Prashant Kumar" userId="92383e96a51f8e88" providerId="LiveId" clId="{B5E24BC8-A913-49B6-8C9F-97923BEBD7D1}" dt="2026-01-27T06:19:51.874" v="16"/>
          <ac:spMkLst>
            <pc:docMk/>
            <pc:sldMk cId="4293971292" sldId="259"/>
            <ac:spMk id="2" creationId="{7FC4699A-856B-0ED7-4BF9-DDA98109999C}"/>
          </ac:spMkLst>
        </pc:spChg>
        <pc:spChg chg="mod">
          <ac:chgData name="Prashant Kumar" userId="92383e96a51f8e88" providerId="LiveId" clId="{B5E24BC8-A913-49B6-8C9F-97923BEBD7D1}" dt="2026-01-27T06:19:59.884" v="18" actId="27636"/>
          <ac:spMkLst>
            <pc:docMk/>
            <pc:sldMk cId="4293971292" sldId="259"/>
            <ac:spMk id="3" creationId="{99ECD096-C3BB-45AF-B3EC-D7EDCF274C6E}"/>
          </ac:spMkLst>
        </pc:spChg>
      </pc:sldChg>
      <pc:sldChg chg="modSp new modTransition">
        <pc:chgData name="Prashant Kumar" userId="92383e96a51f8e88" providerId="LiveId" clId="{B5E24BC8-A913-49B6-8C9F-97923BEBD7D1}" dt="2026-01-27T06:24:00.878" v="45"/>
        <pc:sldMkLst>
          <pc:docMk/>
          <pc:sldMk cId="4145415520" sldId="260"/>
        </pc:sldMkLst>
        <pc:spChg chg="mod">
          <ac:chgData name="Prashant Kumar" userId="92383e96a51f8e88" providerId="LiveId" clId="{B5E24BC8-A913-49B6-8C9F-97923BEBD7D1}" dt="2026-01-27T06:20:34.624" v="20"/>
          <ac:spMkLst>
            <pc:docMk/>
            <pc:sldMk cId="4145415520" sldId="260"/>
            <ac:spMk id="2" creationId="{1D6CE7BE-EE3D-6454-8E98-292E4145ED94}"/>
          </ac:spMkLst>
        </pc:spChg>
        <pc:spChg chg="mod">
          <ac:chgData name="Prashant Kumar" userId="92383e96a51f8e88" providerId="LiveId" clId="{B5E24BC8-A913-49B6-8C9F-97923BEBD7D1}" dt="2026-01-27T06:20:41.703" v="21"/>
          <ac:spMkLst>
            <pc:docMk/>
            <pc:sldMk cId="4145415520" sldId="260"/>
            <ac:spMk id="3" creationId="{929E57B4-6004-5C48-611F-E812886C4608}"/>
          </ac:spMkLst>
        </pc:spChg>
      </pc:sldChg>
      <pc:sldChg chg="modSp new mod modTransition">
        <pc:chgData name="Prashant Kumar" userId="92383e96a51f8e88" providerId="LiveId" clId="{B5E24BC8-A913-49B6-8C9F-97923BEBD7D1}" dt="2026-01-27T06:24:04.634" v="46"/>
        <pc:sldMkLst>
          <pc:docMk/>
          <pc:sldMk cId="3172539368" sldId="261"/>
        </pc:sldMkLst>
        <pc:spChg chg="mod">
          <ac:chgData name="Prashant Kumar" userId="92383e96a51f8e88" providerId="LiveId" clId="{B5E24BC8-A913-49B6-8C9F-97923BEBD7D1}" dt="2026-01-27T06:20:52.750" v="23"/>
          <ac:spMkLst>
            <pc:docMk/>
            <pc:sldMk cId="3172539368" sldId="261"/>
            <ac:spMk id="2" creationId="{513DC32C-716D-18EA-107A-49791D565834}"/>
          </ac:spMkLst>
        </pc:spChg>
        <pc:spChg chg="mod">
          <ac:chgData name="Prashant Kumar" userId="92383e96a51f8e88" providerId="LiveId" clId="{B5E24BC8-A913-49B6-8C9F-97923BEBD7D1}" dt="2026-01-27T06:20:59.085" v="25" actId="27636"/>
          <ac:spMkLst>
            <pc:docMk/>
            <pc:sldMk cId="3172539368" sldId="261"/>
            <ac:spMk id="3" creationId="{E5D4BE94-5B36-F61A-1EDB-921AF375065B}"/>
          </ac:spMkLst>
        </pc:spChg>
      </pc:sldChg>
      <pc:sldChg chg="modSp new modTransition">
        <pc:chgData name="Prashant Kumar" userId="92383e96a51f8e88" providerId="LiveId" clId="{B5E24BC8-A913-49B6-8C9F-97923BEBD7D1}" dt="2026-01-27T06:24:09.309" v="47"/>
        <pc:sldMkLst>
          <pc:docMk/>
          <pc:sldMk cId="2183969428" sldId="262"/>
        </pc:sldMkLst>
        <pc:spChg chg="mod">
          <ac:chgData name="Prashant Kumar" userId="92383e96a51f8e88" providerId="LiveId" clId="{B5E24BC8-A913-49B6-8C9F-97923BEBD7D1}" dt="2026-01-27T06:21:09.307" v="27"/>
          <ac:spMkLst>
            <pc:docMk/>
            <pc:sldMk cId="2183969428" sldId="262"/>
            <ac:spMk id="2" creationId="{4BF33DCE-A8C0-B6B1-317E-B96981111256}"/>
          </ac:spMkLst>
        </pc:spChg>
        <pc:spChg chg="mod">
          <ac:chgData name="Prashant Kumar" userId="92383e96a51f8e88" providerId="LiveId" clId="{B5E24BC8-A913-49B6-8C9F-97923BEBD7D1}" dt="2026-01-27T06:21:16.829" v="28"/>
          <ac:spMkLst>
            <pc:docMk/>
            <pc:sldMk cId="2183969428" sldId="262"/>
            <ac:spMk id="3" creationId="{FD4F970F-8132-5E24-4B11-0A3DA7E75B4E}"/>
          </ac:spMkLst>
        </pc:spChg>
      </pc:sldChg>
      <pc:sldChg chg="modSp new mod modTransition">
        <pc:chgData name="Prashant Kumar" userId="92383e96a51f8e88" providerId="LiveId" clId="{B5E24BC8-A913-49B6-8C9F-97923BEBD7D1}" dt="2026-01-27T06:24:15.506" v="48"/>
        <pc:sldMkLst>
          <pc:docMk/>
          <pc:sldMk cId="3119118645" sldId="263"/>
        </pc:sldMkLst>
        <pc:spChg chg="mod">
          <ac:chgData name="Prashant Kumar" userId="92383e96a51f8e88" providerId="LiveId" clId="{B5E24BC8-A913-49B6-8C9F-97923BEBD7D1}" dt="2026-01-27T06:21:27.458" v="30"/>
          <ac:spMkLst>
            <pc:docMk/>
            <pc:sldMk cId="3119118645" sldId="263"/>
            <ac:spMk id="2" creationId="{78D90A3B-B703-E3C8-B830-EAE93DA5B339}"/>
          </ac:spMkLst>
        </pc:spChg>
        <pc:spChg chg="mod">
          <ac:chgData name="Prashant Kumar" userId="92383e96a51f8e88" providerId="LiveId" clId="{B5E24BC8-A913-49B6-8C9F-97923BEBD7D1}" dt="2026-01-27T06:21:47.396" v="33" actId="255"/>
          <ac:spMkLst>
            <pc:docMk/>
            <pc:sldMk cId="3119118645" sldId="263"/>
            <ac:spMk id="3" creationId="{466195DC-91A1-344B-5BCD-731EEDEF5F6D}"/>
          </ac:spMkLst>
        </pc:spChg>
      </pc:sldChg>
      <pc:sldChg chg="modSp new modTransition">
        <pc:chgData name="Prashant Kumar" userId="92383e96a51f8e88" providerId="LiveId" clId="{B5E24BC8-A913-49B6-8C9F-97923BEBD7D1}" dt="2026-01-27T06:24:23.703" v="49"/>
        <pc:sldMkLst>
          <pc:docMk/>
          <pc:sldMk cId="198219741" sldId="264"/>
        </pc:sldMkLst>
        <pc:spChg chg="mod">
          <ac:chgData name="Prashant Kumar" userId="92383e96a51f8e88" providerId="LiveId" clId="{B5E24BC8-A913-49B6-8C9F-97923BEBD7D1}" dt="2026-01-27T06:22:12.721" v="35"/>
          <ac:spMkLst>
            <pc:docMk/>
            <pc:sldMk cId="198219741" sldId="264"/>
            <ac:spMk id="2" creationId="{27154B80-ED77-BDE3-57AD-387E76F1A289}"/>
          </ac:spMkLst>
        </pc:spChg>
        <pc:spChg chg="mod">
          <ac:chgData name="Prashant Kumar" userId="92383e96a51f8e88" providerId="LiveId" clId="{B5E24BC8-A913-49B6-8C9F-97923BEBD7D1}" dt="2026-01-27T06:22:21.013" v="36"/>
          <ac:spMkLst>
            <pc:docMk/>
            <pc:sldMk cId="198219741" sldId="264"/>
            <ac:spMk id="3" creationId="{1CAA46FF-68A5-E0FA-FEE9-9EA7FF960555}"/>
          </ac:spMkLst>
        </pc:spChg>
      </pc:sldChg>
      <pc:sldChg chg="modSp new mod modTransition">
        <pc:chgData name="Prashant Kumar" userId="92383e96a51f8e88" providerId="LiveId" clId="{B5E24BC8-A913-49B6-8C9F-97923BEBD7D1}" dt="2026-01-27T06:24:30.126" v="50"/>
        <pc:sldMkLst>
          <pc:docMk/>
          <pc:sldMk cId="3693306468" sldId="265"/>
        </pc:sldMkLst>
        <pc:spChg chg="mod">
          <ac:chgData name="Prashant Kumar" userId="92383e96a51f8e88" providerId="LiveId" clId="{B5E24BC8-A913-49B6-8C9F-97923BEBD7D1}" dt="2026-01-27T06:22:31.301" v="38"/>
          <ac:spMkLst>
            <pc:docMk/>
            <pc:sldMk cId="3693306468" sldId="265"/>
            <ac:spMk id="2" creationId="{75455F51-3D10-0175-939F-055E33B65351}"/>
          </ac:spMkLst>
        </pc:spChg>
        <pc:spChg chg="mod">
          <ac:chgData name="Prashant Kumar" userId="92383e96a51f8e88" providerId="LiveId" clId="{B5E24BC8-A913-49B6-8C9F-97923BEBD7D1}" dt="2026-01-27T06:22:38.184" v="40" actId="27636"/>
          <ac:spMkLst>
            <pc:docMk/>
            <pc:sldMk cId="3693306468" sldId="265"/>
            <ac:spMk id="3" creationId="{C786941B-D5D9-67E6-D799-4C306E0273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15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02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25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04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62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50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1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95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55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54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DD799-21B6-47E7-AFC8-501986EA425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236DA9C-5FB3-424E-8541-2E76B4E05E2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79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21EA-48E6-D054-8B61-BA80BA21E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Credit Card Fraud Detection using </a:t>
            </a:r>
            <a:r>
              <a:rPr lang="en-GB" dirty="0" err="1"/>
              <a:t>LightGBM</a:t>
            </a:r>
            <a:r>
              <a:rPr lang="en-GB" dirty="0"/>
              <a:t> and </a:t>
            </a:r>
            <a:r>
              <a:rPr lang="en-GB" dirty="0" err="1"/>
              <a:t>TabNet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D8FE-2EC8-5B83-2650-A210E4DB2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000" dirty="0"/>
              <a:t>Machine Learning Based Financial Security System</a:t>
            </a:r>
          </a:p>
          <a:p>
            <a:r>
              <a:rPr lang="en-IN" sz="2000" dirty="0"/>
              <a:t>Dataset: Credit Card Transactions (creditcard.csv)</a:t>
            </a:r>
          </a:p>
          <a:p>
            <a:r>
              <a:rPr lang="en-IN" sz="2000" dirty="0"/>
              <a:t>Domain: Banking &amp; Financial Technology</a:t>
            </a:r>
          </a:p>
          <a:p>
            <a:r>
              <a:rPr lang="en-IN" sz="2000" b="1" dirty="0"/>
              <a:t>Prepared by:</a:t>
            </a:r>
            <a:r>
              <a:rPr lang="en-IN" sz="2000" dirty="0"/>
              <a:t> Prashant Kumar</a:t>
            </a:r>
            <a:br>
              <a:rPr lang="en-IN" sz="2000" dirty="0"/>
            </a:br>
            <a:r>
              <a:rPr lang="en-IN" sz="2000" b="1" dirty="0"/>
              <a:t>Department:</a:t>
            </a:r>
            <a:r>
              <a:rPr lang="en-IN" sz="2000" dirty="0"/>
              <a:t> Computer Science &amp; Engineering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2082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15D1-7EB3-0F7A-4B78-27607108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5F7F-291E-6EBB-1514-0243E4ED2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Rapid growth of digital payments has increased financial fraud risks</a:t>
            </a:r>
          </a:p>
          <a:p>
            <a:r>
              <a:rPr lang="en-GB" dirty="0"/>
              <a:t>Credit card fraud causes major losses to banks and customers</a:t>
            </a:r>
          </a:p>
          <a:p>
            <a:r>
              <a:rPr lang="en-GB" dirty="0"/>
              <a:t>Manual fraud detection is slow and error-prone</a:t>
            </a:r>
          </a:p>
          <a:p>
            <a:r>
              <a:rPr lang="en-GB" dirty="0"/>
              <a:t>Machine learning enables </a:t>
            </a:r>
            <a:r>
              <a:rPr lang="en-GB" b="1" dirty="0"/>
              <a:t>automated, accurate, and scalable fraud detection</a:t>
            </a:r>
            <a:endParaRPr lang="en-GB" dirty="0"/>
          </a:p>
          <a:p>
            <a:r>
              <a:rPr lang="en-GB" b="1" dirty="0"/>
              <a:t>Goal:</a:t>
            </a:r>
            <a:br>
              <a:rPr lang="en-GB" dirty="0"/>
            </a:br>
            <a:r>
              <a:rPr lang="en-GB" dirty="0"/>
              <a:t>To identify fraudulent credit card transactions with high precision and recall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47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7AA6-FB71-E2AE-CC94-99B7D9D4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E3AAE1-1C04-4719-4240-E505258B86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18962"/>
            <a:ext cx="71948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detection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 problem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 are classified as: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Legitimate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Fraudulent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imbalanced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and evolving fraud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high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5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699A-856B-0ED7-4BF9-DDA98109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CD096-C3BB-45AF-B3EC-D7EDCF274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Dataset contains anonymized credit card transactions</a:t>
            </a:r>
          </a:p>
          <a:p>
            <a:r>
              <a:rPr lang="en-IN" dirty="0"/>
              <a:t>Features:</a:t>
            </a:r>
          </a:p>
          <a:p>
            <a:pPr lvl="1"/>
            <a:r>
              <a:rPr lang="en-IN" dirty="0"/>
              <a:t>Numerical transaction attributes</a:t>
            </a:r>
          </a:p>
          <a:p>
            <a:pPr lvl="1"/>
            <a:r>
              <a:rPr lang="en-IN" dirty="0"/>
              <a:t>Transformed using PCA for privacy</a:t>
            </a:r>
          </a:p>
          <a:p>
            <a:r>
              <a:rPr lang="en-IN" dirty="0"/>
              <a:t>Target variable:</a:t>
            </a:r>
          </a:p>
          <a:p>
            <a:pPr lvl="1"/>
            <a:r>
              <a:rPr lang="en-IN" dirty="0"/>
              <a:t>Class = 0 → Normal transaction</a:t>
            </a:r>
          </a:p>
          <a:p>
            <a:pPr lvl="1"/>
            <a:r>
              <a:rPr lang="en-IN" dirty="0"/>
              <a:t>Class = 1 → Fraudulent transaction</a:t>
            </a:r>
          </a:p>
          <a:p>
            <a:r>
              <a:rPr lang="en-IN" b="1" dirty="0"/>
              <a:t>Key Observation:</a:t>
            </a:r>
            <a:br>
              <a:rPr lang="en-IN" dirty="0"/>
            </a:br>
            <a:r>
              <a:rPr lang="en-IN" dirty="0"/>
              <a:t>Fraud cases are extremely rare compared to normal transactions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97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E7BE-EE3D-6454-8E98-292E4145E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57B4-6004-5C48-611F-E812886C4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Each transaction is represented as a feature vector: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3</m:t>
                            </m:r>
                          </m:sub>
                        </m:sSub>
                      </m:e>
                      <m:e>
                        <m:r>
                          <a:rPr lang="ar-AE"/>
                          <m:t>.</m:t>
                        </m:r>
                      </m:e>
                      <m:e>
                        <m:r>
                          <a:rPr lang="ar-AE"/>
                          <m:t>..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 i="1"/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The model learns a function: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𝑃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Fraud</m:t>
                        </m:r>
                        <m:r>
                          <a:rPr lang="en-IN"/>
                          <m:t>∣</m:t>
                        </m:r>
                        <m:r>
                          <a:rPr lang="en-IN" i="1"/>
                          <m:t>𝑋</m:t>
                        </m:r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Output is a probability score between 0 and 1</a:t>
                </a:r>
              </a:p>
              <a:p>
                <a:r>
                  <a:rPr lang="en-IN" dirty="0"/>
                  <a:t>Higher probability indicates higher fraud risk</a:t>
                </a:r>
              </a:p>
              <a:p>
                <a:r>
                  <a:rPr lang="en-IN" dirty="0"/>
                  <a:t>This probabilistic approach allows precise risk estimation.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57B4-6004-5C48-611F-E812886C4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77" b="-1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41552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C32C-716D-18EA-107A-49791D56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LightGBM</a:t>
            </a:r>
            <a:r>
              <a:rPr lang="en-IN" dirty="0"/>
              <a:t>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4BE94-5B36-F61A-1EDB-921AF375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Gradient Boosting Decision Tree algorithm</a:t>
            </a:r>
          </a:p>
          <a:p>
            <a:r>
              <a:rPr lang="en-IN" dirty="0"/>
              <a:t>Builds multiple trees sequentially to minimize prediction error</a:t>
            </a:r>
          </a:p>
          <a:p>
            <a:r>
              <a:rPr lang="en-IN" dirty="0"/>
              <a:t>Optimizes log-loss for classification tasks</a:t>
            </a:r>
          </a:p>
          <a:p>
            <a:r>
              <a:rPr lang="en-IN" b="1" dirty="0"/>
              <a:t>Advantages:</a:t>
            </a:r>
            <a:endParaRPr lang="en-IN" dirty="0"/>
          </a:p>
          <a:p>
            <a:r>
              <a:rPr lang="en-IN" dirty="0"/>
              <a:t>High accuracy on tabular data</a:t>
            </a:r>
          </a:p>
          <a:p>
            <a:r>
              <a:rPr lang="en-IN" dirty="0"/>
              <a:t>Fast training and inference</a:t>
            </a:r>
          </a:p>
          <a:p>
            <a:r>
              <a:rPr lang="en-IN" dirty="0"/>
              <a:t>Handles class imbalance effectively</a:t>
            </a:r>
          </a:p>
          <a:p>
            <a:r>
              <a:rPr lang="en-IN" dirty="0"/>
              <a:t>Widely used in real-world banking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5393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3DCE-A8C0-B6B1-317E-B9698111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TabNet</a:t>
            </a:r>
            <a:r>
              <a:rPr lang="en-IN" dirty="0"/>
              <a:t>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F970F-8132-5E24-4B11-0A3DA7E7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Deep learning model designed for tabular datasets</a:t>
            </a:r>
          </a:p>
          <a:p>
            <a:r>
              <a:rPr lang="en-GB" dirty="0"/>
              <a:t>Uses attention mechanism to focus on important features</a:t>
            </a:r>
          </a:p>
          <a:p>
            <a:r>
              <a:rPr lang="en-GB" dirty="0"/>
              <a:t>Learns feature interactions automatically</a:t>
            </a:r>
          </a:p>
          <a:p>
            <a:r>
              <a:rPr lang="en-GB" b="1" dirty="0"/>
              <a:t>Advantages:</a:t>
            </a:r>
            <a:endParaRPr lang="en-GB" dirty="0"/>
          </a:p>
          <a:p>
            <a:r>
              <a:rPr lang="en-GB" dirty="0"/>
              <a:t>High interpretability compared to traditional neural networks</a:t>
            </a:r>
          </a:p>
          <a:p>
            <a:r>
              <a:rPr lang="en-GB" dirty="0"/>
              <a:t>Captures complex fraud patterns</a:t>
            </a:r>
          </a:p>
          <a:p>
            <a:r>
              <a:rPr lang="en-GB" dirty="0"/>
              <a:t>Strong performance on structured financial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9694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90A3B-B703-E3C8-B830-EAE93DA5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195DC-91A1-344B-5BCD-731EEDEF5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400" dirty="0"/>
              <a:t>Dataset split into training and testing sets</a:t>
            </a:r>
          </a:p>
          <a:p>
            <a:r>
              <a:rPr lang="en-IN" sz="1400" dirty="0"/>
              <a:t>Models trained independently:</a:t>
            </a:r>
          </a:p>
          <a:p>
            <a:pPr lvl="1"/>
            <a:r>
              <a:rPr lang="en-IN" sz="1400" dirty="0" err="1"/>
              <a:t>LightGBM</a:t>
            </a:r>
            <a:endParaRPr lang="en-IN" sz="1400" dirty="0"/>
          </a:p>
          <a:p>
            <a:pPr lvl="1"/>
            <a:r>
              <a:rPr lang="en-IN" sz="1400" dirty="0" err="1"/>
              <a:t>TabNet</a:t>
            </a:r>
            <a:endParaRPr lang="en-IN" sz="1400" dirty="0"/>
          </a:p>
          <a:p>
            <a:r>
              <a:rPr lang="en-IN" sz="1400" dirty="0"/>
              <a:t>Evaluation metrics used:</a:t>
            </a:r>
          </a:p>
          <a:p>
            <a:pPr lvl="1"/>
            <a:r>
              <a:rPr lang="en-IN" sz="1400" dirty="0"/>
              <a:t>Precision</a:t>
            </a:r>
          </a:p>
          <a:p>
            <a:pPr lvl="1"/>
            <a:r>
              <a:rPr lang="en-IN" sz="1400" dirty="0"/>
              <a:t>Recall</a:t>
            </a:r>
          </a:p>
          <a:p>
            <a:pPr lvl="1"/>
            <a:r>
              <a:rPr lang="en-IN" sz="1400" dirty="0"/>
              <a:t>F1-score</a:t>
            </a:r>
          </a:p>
          <a:p>
            <a:pPr lvl="1"/>
            <a:r>
              <a:rPr lang="en-IN" sz="1400" dirty="0"/>
              <a:t>ROC–AUC</a:t>
            </a:r>
          </a:p>
          <a:p>
            <a:r>
              <a:rPr lang="en-IN" sz="1400" b="1" dirty="0"/>
              <a:t>Reason:</a:t>
            </a:r>
            <a:br>
              <a:rPr lang="en-IN" sz="1400" dirty="0"/>
            </a:br>
            <a:r>
              <a:rPr lang="en-IN" sz="1400" dirty="0"/>
              <a:t>Accuracy alone is misleading for imbalanced fraud data.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19118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4B80-ED77-BDE3-57AD-387E76F1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46FF-68A5-E0FA-FEE9-9EA7FF96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LightGBM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Faster training</a:t>
            </a:r>
          </a:p>
          <a:p>
            <a:pPr lvl="1"/>
            <a:r>
              <a:rPr lang="en-IN" dirty="0"/>
              <a:t>Strong baseline performance</a:t>
            </a:r>
          </a:p>
          <a:p>
            <a:r>
              <a:rPr lang="en-IN" dirty="0" err="1"/>
              <a:t>TabNet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Better feature learning</a:t>
            </a:r>
          </a:p>
          <a:p>
            <a:pPr lvl="1"/>
            <a:r>
              <a:rPr lang="en-IN" dirty="0"/>
              <a:t>Deep representation capability</a:t>
            </a:r>
          </a:p>
          <a:p>
            <a:r>
              <a:rPr lang="en-IN" dirty="0"/>
              <a:t>Both models successfully identify fraudulent transactions with high ROC–AUC scores.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19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5F51-3D10-0175-939F-055E33B6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6941B-D5D9-67E6-D799-4C306E027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Conclusion:</a:t>
            </a:r>
            <a:endParaRPr lang="en-GB" dirty="0"/>
          </a:p>
          <a:p>
            <a:r>
              <a:rPr lang="en-GB" dirty="0"/>
              <a:t>Machine learning provides an effective solution for fraud detection</a:t>
            </a:r>
          </a:p>
          <a:p>
            <a:r>
              <a:rPr lang="en-GB" dirty="0" err="1"/>
              <a:t>LightGBM</a:t>
            </a:r>
            <a:r>
              <a:rPr lang="en-GB" dirty="0"/>
              <a:t> and </a:t>
            </a:r>
            <a:r>
              <a:rPr lang="en-GB" dirty="0" err="1"/>
              <a:t>TabNet</a:t>
            </a:r>
            <a:r>
              <a:rPr lang="en-GB" dirty="0"/>
              <a:t> complement each other</a:t>
            </a:r>
          </a:p>
          <a:p>
            <a:r>
              <a:rPr lang="en-GB" dirty="0"/>
              <a:t>System is suitable for real-world financial applications</a:t>
            </a:r>
          </a:p>
          <a:p>
            <a:r>
              <a:rPr lang="en-GB" b="1" dirty="0"/>
              <a:t>Future Scope:</a:t>
            </a:r>
            <a:endParaRPr lang="en-GB" dirty="0"/>
          </a:p>
          <a:p>
            <a:r>
              <a:rPr lang="en-GB" dirty="0"/>
              <a:t>Real-time fraud detection systems</a:t>
            </a:r>
          </a:p>
          <a:p>
            <a:r>
              <a:rPr lang="en-GB" dirty="0"/>
              <a:t>Explainable AI integration</a:t>
            </a:r>
          </a:p>
          <a:p>
            <a:r>
              <a:rPr lang="en-GB" dirty="0"/>
              <a:t>Deployment using web or cloud platforms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306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</TotalTime>
  <Words>423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Credit Card Fraud Detection using LightGBM and TabNet</vt:lpstr>
      <vt:lpstr>Introduction &amp; Motivation</vt:lpstr>
      <vt:lpstr>Problem Statement</vt:lpstr>
      <vt:lpstr>Dataset Description</vt:lpstr>
      <vt:lpstr>Mathematical Intuition</vt:lpstr>
      <vt:lpstr>LightGBM Model Overview</vt:lpstr>
      <vt:lpstr>TabNet Model Overview</vt:lpstr>
      <vt:lpstr>Model Training &amp; Evaluation</vt:lpstr>
      <vt:lpstr>Results &amp; Comparison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</dc:creator>
  <cp:lastModifiedBy>Prashant Kumar</cp:lastModifiedBy>
  <cp:revision>1</cp:revision>
  <dcterms:created xsi:type="dcterms:W3CDTF">2026-01-27T06:16:10Z</dcterms:created>
  <dcterms:modified xsi:type="dcterms:W3CDTF">2026-01-27T06:28:31Z</dcterms:modified>
</cp:coreProperties>
</file>
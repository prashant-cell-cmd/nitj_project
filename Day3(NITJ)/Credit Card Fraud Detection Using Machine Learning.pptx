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85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4B91F0-98C5-4C89-9D8B-1039B06AA52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1AA307-4C5D-468D-B64C-D2AC0C4F495F}">
      <dgm:prSet phldrT="[Text]"/>
      <dgm:spPr/>
      <dgm:t>
        <a:bodyPr/>
        <a:lstStyle/>
        <a:p>
          <a:r>
            <a:rPr lang="en-GB" dirty="0" smtClean="0"/>
            <a:t>KNN</a:t>
          </a:r>
          <a:endParaRPr lang="en-US" dirty="0"/>
        </a:p>
      </dgm:t>
    </dgm:pt>
    <dgm:pt modelId="{52A97C3F-36A3-4A0D-8BC0-195C2792163F}" type="parTrans" cxnId="{2D9410DF-411D-484B-87F4-9B9571994412}">
      <dgm:prSet/>
      <dgm:spPr/>
      <dgm:t>
        <a:bodyPr/>
        <a:lstStyle/>
        <a:p>
          <a:endParaRPr lang="en-US"/>
        </a:p>
      </dgm:t>
    </dgm:pt>
    <dgm:pt modelId="{74B072E5-F108-4DFF-86CB-54A1937F048E}" type="sibTrans" cxnId="{2D9410DF-411D-484B-87F4-9B9571994412}">
      <dgm:prSet/>
      <dgm:spPr/>
      <dgm:t>
        <a:bodyPr/>
        <a:lstStyle/>
        <a:p>
          <a:endParaRPr lang="en-US"/>
        </a:p>
      </dgm:t>
    </dgm:pt>
    <dgm:pt modelId="{456FB1C5-448F-4B8B-BBF4-9227D24DD0D7}">
      <dgm:prSet phldrT="[Text]"/>
      <dgm:spPr/>
      <dgm:t>
        <a:bodyPr/>
        <a:lstStyle/>
        <a:p>
          <a:r>
            <a:rPr lang="en-US" dirty="0" smtClean="0"/>
            <a:t>Moderate accuracy</a:t>
          </a:r>
          <a:endParaRPr lang="en-US" dirty="0"/>
        </a:p>
      </dgm:t>
    </dgm:pt>
    <dgm:pt modelId="{142FB19E-DA31-41BC-892F-8F627F930806}" type="parTrans" cxnId="{252518DB-5F26-4ECC-8FCB-C72053F966EF}">
      <dgm:prSet/>
      <dgm:spPr/>
      <dgm:t>
        <a:bodyPr/>
        <a:lstStyle/>
        <a:p>
          <a:endParaRPr lang="en-US"/>
        </a:p>
      </dgm:t>
    </dgm:pt>
    <dgm:pt modelId="{B9F456C9-3096-47CE-93E4-F5ABF4F8297D}" type="sibTrans" cxnId="{252518DB-5F26-4ECC-8FCB-C72053F966EF}">
      <dgm:prSet/>
      <dgm:spPr/>
      <dgm:t>
        <a:bodyPr/>
        <a:lstStyle/>
        <a:p>
          <a:endParaRPr lang="en-US"/>
        </a:p>
      </dgm:t>
    </dgm:pt>
    <dgm:pt modelId="{53D32845-1ED1-45A4-BEE4-A32C477AFB60}">
      <dgm:prSet phldrT="[Text]"/>
      <dgm:spPr/>
      <dgm:t>
        <a:bodyPr/>
        <a:lstStyle/>
        <a:p>
          <a:r>
            <a:rPr lang="en-GB" dirty="0" smtClean="0"/>
            <a:t>KMEANS</a:t>
          </a:r>
          <a:endParaRPr lang="en-US" dirty="0"/>
        </a:p>
      </dgm:t>
    </dgm:pt>
    <dgm:pt modelId="{60D7CE56-D4F7-4836-B218-4C9DFC9225A4}" type="parTrans" cxnId="{62582E9C-282B-4E80-A815-35F4486EC636}">
      <dgm:prSet/>
      <dgm:spPr/>
      <dgm:t>
        <a:bodyPr/>
        <a:lstStyle/>
        <a:p>
          <a:endParaRPr lang="en-US"/>
        </a:p>
      </dgm:t>
    </dgm:pt>
    <dgm:pt modelId="{4EEC17C7-2B67-4493-8078-F28EF8C9D5B4}" type="sibTrans" cxnId="{62582E9C-282B-4E80-A815-35F4486EC636}">
      <dgm:prSet/>
      <dgm:spPr/>
      <dgm:t>
        <a:bodyPr/>
        <a:lstStyle/>
        <a:p>
          <a:endParaRPr lang="en-US"/>
        </a:p>
      </dgm:t>
    </dgm:pt>
    <dgm:pt modelId="{245F35D2-3823-4265-BD0F-E3FE88D3092E}">
      <dgm:prSet phldrT="[Text]"/>
      <dgm:spPr/>
      <dgm:t>
        <a:bodyPr/>
        <a:lstStyle/>
        <a:p>
          <a:r>
            <a:rPr lang="en-US" dirty="0" smtClean="0"/>
            <a:t>Identified abnormal transaction clusters</a:t>
          </a:r>
          <a:endParaRPr lang="en-US" dirty="0"/>
        </a:p>
      </dgm:t>
    </dgm:pt>
    <dgm:pt modelId="{D3E508A6-2FBB-480B-8F65-6B8188C5E509}" type="parTrans" cxnId="{9608F861-5007-47F2-838A-6C70FB721567}">
      <dgm:prSet/>
      <dgm:spPr/>
      <dgm:t>
        <a:bodyPr/>
        <a:lstStyle/>
        <a:p>
          <a:endParaRPr lang="en-US"/>
        </a:p>
      </dgm:t>
    </dgm:pt>
    <dgm:pt modelId="{6FBE7A97-7CAA-4C5F-B1C0-16738DCED47E}" type="sibTrans" cxnId="{9608F861-5007-47F2-838A-6C70FB721567}">
      <dgm:prSet/>
      <dgm:spPr/>
      <dgm:t>
        <a:bodyPr/>
        <a:lstStyle/>
        <a:p>
          <a:endParaRPr lang="en-US"/>
        </a:p>
      </dgm:t>
    </dgm:pt>
    <dgm:pt modelId="{C48340BF-22F8-4D8E-A13A-21C955F466FC}">
      <dgm:prSet phldrT="[Text]"/>
      <dgm:spPr/>
      <dgm:t>
        <a:bodyPr/>
        <a:lstStyle/>
        <a:p>
          <a:r>
            <a:rPr lang="en-GB" dirty="0" smtClean="0"/>
            <a:t>DT</a:t>
          </a:r>
          <a:endParaRPr lang="en-US" dirty="0"/>
        </a:p>
      </dgm:t>
    </dgm:pt>
    <dgm:pt modelId="{3733A5E0-C4B2-4F4E-9165-F8CD060DDB7F}" type="parTrans" cxnId="{C34494E9-C8A5-4B14-8169-FE02D21A00BD}">
      <dgm:prSet/>
      <dgm:spPr/>
      <dgm:t>
        <a:bodyPr/>
        <a:lstStyle/>
        <a:p>
          <a:endParaRPr lang="en-US"/>
        </a:p>
      </dgm:t>
    </dgm:pt>
    <dgm:pt modelId="{EFEF3B88-AC95-47AB-98D3-00961CDAB0E6}" type="sibTrans" cxnId="{C34494E9-C8A5-4B14-8169-FE02D21A00BD}">
      <dgm:prSet/>
      <dgm:spPr/>
      <dgm:t>
        <a:bodyPr/>
        <a:lstStyle/>
        <a:p>
          <a:endParaRPr lang="en-US"/>
        </a:p>
      </dgm:t>
    </dgm:pt>
    <dgm:pt modelId="{77290738-F592-4A24-9E84-C178903EDF2F}">
      <dgm:prSet phldrT="[Text]"/>
      <dgm:spPr/>
      <dgm:t>
        <a:bodyPr/>
        <a:lstStyle/>
        <a:p>
          <a:r>
            <a:rPr lang="en-US" dirty="0" smtClean="0"/>
            <a:t>Highest accuracy</a:t>
          </a:r>
          <a:endParaRPr lang="en-US" dirty="0"/>
        </a:p>
      </dgm:t>
    </dgm:pt>
    <dgm:pt modelId="{E8D4B81A-8703-49E8-8AEF-B0729A916B81}" type="parTrans" cxnId="{B897BEC8-699E-4AF5-8196-E1CDB21428B1}">
      <dgm:prSet/>
      <dgm:spPr/>
      <dgm:t>
        <a:bodyPr/>
        <a:lstStyle/>
        <a:p>
          <a:endParaRPr lang="en-US"/>
        </a:p>
      </dgm:t>
    </dgm:pt>
    <dgm:pt modelId="{BFF6B789-3852-4FEC-8038-9D0A93F8EBA8}" type="sibTrans" cxnId="{B897BEC8-699E-4AF5-8196-E1CDB21428B1}">
      <dgm:prSet/>
      <dgm:spPr/>
      <dgm:t>
        <a:bodyPr/>
        <a:lstStyle/>
        <a:p>
          <a:endParaRPr lang="en-US"/>
        </a:p>
      </dgm:t>
    </dgm:pt>
    <dgm:pt modelId="{F05BB8D8-DB80-4298-99CE-5585E8A2B4FF}">
      <dgm:prSet/>
      <dgm:spPr/>
      <dgm:t>
        <a:bodyPr/>
        <a:lstStyle/>
        <a:p>
          <a:r>
            <a:rPr lang="en-GB" dirty="0" smtClean="0"/>
            <a:t>Good performance on small datasets</a:t>
          </a:r>
          <a:endParaRPr lang="en-GB" dirty="0"/>
        </a:p>
      </dgm:t>
    </dgm:pt>
    <dgm:pt modelId="{2226199C-B232-4B6D-A7F9-07C14C453287}" type="parTrans" cxnId="{E1402108-6912-4349-84D9-36BED1EFC7D6}">
      <dgm:prSet/>
      <dgm:spPr/>
      <dgm:t>
        <a:bodyPr/>
        <a:lstStyle/>
        <a:p>
          <a:endParaRPr lang="en-US"/>
        </a:p>
      </dgm:t>
    </dgm:pt>
    <dgm:pt modelId="{D7274D08-7CD7-4B3E-966F-1D7AAACB1E2A}" type="sibTrans" cxnId="{E1402108-6912-4349-84D9-36BED1EFC7D6}">
      <dgm:prSet/>
      <dgm:spPr/>
      <dgm:t>
        <a:bodyPr/>
        <a:lstStyle/>
        <a:p>
          <a:endParaRPr lang="en-US"/>
        </a:p>
      </dgm:t>
    </dgm:pt>
    <dgm:pt modelId="{3E1C58C5-AE0A-427F-ADDB-B133F8A8CC42}">
      <dgm:prSet/>
      <dgm:spPr/>
      <dgm:t>
        <a:bodyPr/>
        <a:lstStyle/>
        <a:p>
          <a:r>
            <a:rPr lang="en-US" dirty="0" smtClean="0"/>
            <a:t>Slower for large data</a:t>
          </a:r>
          <a:endParaRPr lang="en-US" dirty="0"/>
        </a:p>
      </dgm:t>
    </dgm:pt>
    <dgm:pt modelId="{4B916C73-9A81-4111-B9C9-06B0F4EEBE1F}" type="parTrans" cxnId="{07B67BC4-AA4C-4DCA-BDB8-A0708B01EDCF}">
      <dgm:prSet/>
      <dgm:spPr/>
      <dgm:t>
        <a:bodyPr/>
        <a:lstStyle/>
        <a:p>
          <a:endParaRPr lang="en-US"/>
        </a:p>
      </dgm:t>
    </dgm:pt>
    <dgm:pt modelId="{273F9959-50BE-4EF5-AE61-F01153DF2CC2}" type="sibTrans" cxnId="{07B67BC4-AA4C-4DCA-BDB8-A0708B01EDCF}">
      <dgm:prSet/>
      <dgm:spPr/>
      <dgm:t>
        <a:bodyPr/>
        <a:lstStyle/>
        <a:p>
          <a:endParaRPr lang="en-US"/>
        </a:p>
      </dgm:t>
    </dgm:pt>
    <dgm:pt modelId="{DCB53107-1DB1-4211-A108-EA28E71B8216}">
      <dgm:prSet/>
      <dgm:spPr/>
      <dgm:t>
        <a:bodyPr/>
        <a:lstStyle/>
        <a:p>
          <a:r>
            <a:rPr lang="en-US" smtClean="0"/>
            <a:t>Useful for anomaly detection</a:t>
          </a:r>
          <a:endParaRPr lang="en-US"/>
        </a:p>
      </dgm:t>
    </dgm:pt>
    <dgm:pt modelId="{06041BF2-6968-4B58-A069-C4DF772FC603}" type="parTrans" cxnId="{6B6C4753-2C42-4D89-AD68-03A23CF1DB7A}">
      <dgm:prSet/>
      <dgm:spPr/>
      <dgm:t>
        <a:bodyPr/>
        <a:lstStyle/>
        <a:p>
          <a:endParaRPr lang="en-US"/>
        </a:p>
      </dgm:t>
    </dgm:pt>
    <dgm:pt modelId="{7DE276DC-7E4C-4945-B1AC-F235DE1F81DB}" type="sibTrans" cxnId="{6B6C4753-2C42-4D89-AD68-03A23CF1DB7A}">
      <dgm:prSet/>
      <dgm:spPr/>
      <dgm:t>
        <a:bodyPr/>
        <a:lstStyle/>
        <a:p>
          <a:endParaRPr lang="en-US"/>
        </a:p>
      </dgm:t>
    </dgm:pt>
    <dgm:pt modelId="{96CF50E4-E221-4EF0-901B-A80F0E8E8C95}">
      <dgm:prSet/>
      <dgm:spPr/>
      <dgm:t>
        <a:bodyPr/>
        <a:lstStyle/>
        <a:p>
          <a:r>
            <a:rPr lang="en-GB" dirty="0" smtClean="0"/>
            <a:t>Not ideal for final classification</a:t>
          </a:r>
          <a:endParaRPr lang="en-GB" dirty="0"/>
        </a:p>
      </dgm:t>
    </dgm:pt>
    <dgm:pt modelId="{DAB56BF3-C00E-4123-8344-CD5FF2C4BD9D}" type="parTrans" cxnId="{D778D138-3757-43F0-9941-50941F92B4AB}">
      <dgm:prSet/>
      <dgm:spPr/>
      <dgm:t>
        <a:bodyPr/>
        <a:lstStyle/>
        <a:p>
          <a:endParaRPr lang="en-US"/>
        </a:p>
      </dgm:t>
    </dgm:pt>
    <dgm:pt modelId="{7F7E3523-C449-4634-816D-00E357773D83}" type="sibTrans" cxnId="{D778D138-3757-43F0-9941-50941F92B4AB}">
      <dgm:prSet/>
      <dgm:spPr/>
      <dgm:t>
        <a:bodyPr/>
        <a:lstStyle/>
        <a:p>
          <a:endParaRPr lang="en-US"/>
        </a:p>
      </dgm:t>
    </dgm:pt>
    <dgm:pt modelId="{741E3020-AA9D-4EDC-AA1B-25DB9AEA04D6}">
      <dgm:prSet/>
      <dgm:spPr/>
      <dgm:t>
        <a:bodyPr/>
        <a:lstStyle/>
        <a:p>
          <a:r>
            <a:rPr lang="en-US" smtClean="0"/>
            <a:t>Better precision and recall</a:t>
          </a:r>
          <a:endParaRPr lang="en-US"/>
        </a:p>
      </dgm:t>
    </dgm:pt>
    <dgm:pt modelId="{743494FF-570F-42BA-A67D-27DD781FDC8B}" type="parTrans" cxnId="{48BB71A5-AB55-46C0-86B1-FCBFB0718D2C}">
      <dgm:prSet/>
      <dgm:spPr/>
      <dgm:t>
        <a:bodyPr/>
        <a:lstStyle/>
        <a:p>
          <a:endParaRPr lang="en-US"/>
        </a:p>
      </dgm:t>
    </dgm:pt>
    <dgm:pt modelId="{83C36A4B-EDE3-44D0-B623-EE933AA84B28}" type="sibTrans" cxnId="{48BB71A5-AB55-46C0-86B1-FCBFB0718D2C}">
      <dgm:prSet/>
      <dgm:spPr/>
      <dgm:t>
        <a:bodyPr/>
        <a:lstStyle/>
        <a:p>
          <a:endParaRPr lang="en-US"/>
        </a:p>
      </dgm:t>
    </dgm:pt>
    <dgm:pt modelId="{5342D243-3273-4456-A286-CB8E7DCFAC32}">
      <dgm:prSet/>
      <dgm:spPr/>
      <dgm:t>
        <a:bodyPr/>
        <a:lstStyle/>
        <a:p>
          <a:r>
            <a:rPr lang="en-GB" dirty="0" smtClean="0"/>
            <a:t>Easy to explain and visualize</a:t>
          </a:r>
          <a:endParaRPr lang="en-GB" dirty="0"/>
        </a:p>
      </dgm:t>
    </dgm:pt>
    <dgm:pt modelId="{85D8B971-6618-4E30-98D4-5B8B6022D49F}" type="parTrans" cxnId="{21C04662-D2EA-41AE-864C-AC06DBCBDAD0}">
      <dgm:prSet/>
      <dgm:spPr/>
      <dgm:t>
        <a:bodyPr/>
        <a:lstStyle/>
        <a:p>
          <a:endParaRPr lang="en-US"/>
        </a:p>
      </dgm:t>
    </dgm:pt>
    <dgm:pt modelId="{25D9F374-5BB4-408B-B4D7-96C34396A15E}" type="sibTrans" cxnId="{21C04662-D2EA-41AE-864C-AC06DBCBDAD0}">
      <dgm:prSet/>
      <dgm:spPr/>
      <dgm:t>
        <a:bodyPr/>
        <a:lstStyle/>
        <a:p>
          <a:endParaRPr lang="en-US"/>
        </a:p>
      </dgm:t>
    </dgm:pt>
    <dgm:pt modelId="{6D516A92-65DE-424E-96BD-354D6430F270}" type="pres">
      <dgm:prSet presAssocID="{FB4B91F0-98C5-4C89-9D8B-1039B06AA52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9DB2C5-728A-46D5-A7D9-859A87ADE99A}" type="pres">
      <dgm:prSet presAssocID="{691AA307-4C5D-468D-B64C-D2AC0C4F495F}" presName="composite" presStyleCnt="0"/>
      <dgm:spPr/>
    </dgm:pt>
    <dgm:pt modelId="{5C00882C-3C98-4172-8FDF-B7A3AC2AF5CD}" type="pres">
      <dgm:prSet presAssocID="{691AA307-4C5D-468D-B64C-D2AC0C4F495F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A97154-8CBB-407A-8C04-7D14EB12068E}" type="pres">
      <dgm:prSet presAssocID="{691AA307-4C5D-468D-B64C-D2AC0C4F495F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EE1379-703E-4C0C-A005-62A99AE1B234}" type="pres">
      <dgm:prSet presAssocID="{74B072E5-F108-4DFF-86CB-54A1937F048E}" presName="sp" presStyleCnt="0"/>
      <dgm:spPr/>
    </dgm:pt>
    <dgm:pt modelId="{6E8ECE5B-9053-4055-A50E-AB6517A3C1C5}" type="pres">
      <dgm:prSet presAssocID="{53D32845-1ED1-45A4-BEE4-A32C477AFB60}" presName="composite" presStyleCnt="0"/>
      <dgm:spPr/>
    </dgm:pt>
    <dgm:pt modelId="{26461029-9C82-417D-81C6-AFE39F5837D8}" type="pres">
      <dgm:prSet presAssocID="{53D32845-1ED1-45A4-BEE4-A32C477AFB60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5D05F4-6383-4837-896B-5F03BB132989}" type="pres">
      <dgm:prSet presAssocID="{53D32845-1ED1-45A4-BEE4-A32C477AFB60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69A15A-088B-46F5-8787-E13D1C5D1547}" type="pres">
      <dgm:prSet presAssocID="{4EEC17C7-2B67-4493-8078-F28EF8C9D5B4}" presName="sp" presStyleCnt="0"/>
      <dgm:spPr/>
    </dgm:pt>
    <dgm:pt modelId="{F7EF834D-76BE-4B8F-A46A-74310B8A9282}" type="pres">
      <dgm:prSet presAssocID="{C48340BF-22F8-4D8E-A13A-21C955F466FC}" presName="composite" presStyleCnt="0"/>
      <dgm:spPr/>
    </dgm:pt>
    <dgm:pt modelId="{AA761FED-0F6D-48C8-AC7F-F060E78A2FF5}" type="pres">
      <dgm:prSet presAssocID="{C48340BF-22F8-4D8E-A13A-21C955F466F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5A9783-1E03-4C87-A65F-8668EAAD172A}" type="pres">
      <dgm:prSet presAssocID="{C48340BF-22F8-4D8E-A13A-21C955F466F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A54985-2A0B-4B3E-B007-A58E6E2A663B}" type="presOf" srcId="{53D32845-1ED1-45A4-BEE4-A32C477AFB60}" destId="{26461029-9C82-417D-81C6-AFE39F5837D8}" srcOrd="0" destOrd="0" presId="urn:microsoft.com/office/officeart/2005/8/layout/chevron2"/>
    <dgm:cxn modelId="{F24937AD-935A-4C84-92E8-5C03BEB68231}" type="presOf" srcId="{5342D243-3273-4456-A286-CB8E7DCFAC32}" destId="{705A9783-1E03-4C87-A65F-8668EAAD172A}" srcOrd="0" destOrd="2" presId="urn:microsoft.com/office/officeart/2005/8/layout/chevron2"/>
    <dgm:cxn modelId="{E1402108-6912-4349-84D9-36BED1EFC7D6}" srcId="{691AA307-4C5D-468D-B64C-D2AC0C4F495F}" destId="{F05BB8D8-DB80-4298-99CE-5585E8A2B4FF}" srcOrd="1" destOrd="0" parTransId="{2226199C-B232-4B6D-A7F9-07C14C453287}" sibTransId="{D7274D08-7CD7-4B3E-966F-1D7AAACB1E2A}"/>
    <dgm:cxn modelId="{58AF6204-2BD2-464A-A6B7-FD93B8ABC773}" type="presOf" srcId="{DCB53107-1DB1-4211-A108-EA28E71B8216}" destId="{915D05F4-6383-4837-896B-5F03BB132989}" srcOrd="0" destOrd="1" presId="urn:microsoft.com/office/officeart/2005/8/layout/chevron2"/>
    <dgm:cxn modelId="{78BBB5A8-DE05-4500-B564-2EFF6EB2FAEF}" type="presOf" srcId="{F05BB8D8-DB80-4298-99CE-5585E8A2B4FF}" destId="{42A97154-8CBB-407A-8C04-7D14EB12068E}" srcOrd="0" destOrd="1" presId="urn:microsoft.com/office/officeart/2005/8/layout/chevron2"/>
    <dgm:cxn modelId="{ECFB1692-7BA8-405F-A55E-08F5B34DBCFD}" type="presOf" srcId="{FB4B91F0-98C5-4C89-9D8B-1039B06AA52B}" destId="{6D516A92-65DE-424E-96BD-354D6430F270}" srcOrd="0" destOrd="0" presId="urn:microsoft.com/office/officeart/2005/8/layout/chevron2"/>
    <dgm:cxn modelId="{E74F4022-0371-42FD-9FAF-B199C9A1C427}" type="presOf" srcId="{77290738-F592-4A24-9E84-C178903EDF2F}" destId="{705A9783-1E03-4C87-A65F-8668EAAD172A}" srcOrd="0" destOrd="0" presId="urn:microsoft.com/office/officeart/2005/8/layout/chevron2"/>
    <dgm:cxn modelId="{B897BEC8-699E-4AF5-8196-E1CDB21428B1}" srcId="{C48340BF-22F8-4D8E-A13A-21C955F466FC}" destId="{77290738-F592-4A24-9E84-C178903EDF2F}" srcOrd="0" destOrd="0" parTransId="{E8D4B81A-8703-49E8-8AEF-B0729A916B81}" sibTransId="{BFF6B789-3852-4FEC-8038-9D0A93F8EBA8}"/>
    <dgm:cxn modelId="{F60C1D51-A8D1-4E16-A3AD-9682F3C3F9DF}" type="presOf" srcId="{C48340BF-22F8-4D8E-A13A-21C955F466FC}" destId="{AA761FED-0F6D-48C8-AC7F-F060E78A2FF5}" srcOrd="0" destOrd="0" presId="urn:microsoft.com/office/officeart/2005/8/layout/chevron2"/>
    <dgm:cxn modelId="{ED67E8CE-8377-4CD6-BF00-8B0AEB11367E}" type="presOf" srcId="{96CF50E4-E221-4EF0-901B-A80F0E8E8C95}" destId="{915D05F4-6383-4837-896B-5F03BB132989}" srcOrd="0" destOrd="2" presId="urn:microsoft.com/office/officeart/2005/8/layout/chevron2"/>
    <dgm:cxn modelId="{07B67BC4-AA4C-4DCA-BDB8-A0708B01EDCF}" srcId="{691AA307-4C5D-468D-B64C-D2AC0C4F495F}" destId="{3E1C58C5-AE0A-427F-ADDB-B133F8A8CC42}" srcOrd="2" destOrd="0" parTransId="{4B916C73-9A81-4111-B9C9-06B0F4EEBE1F}" sibTransId="{273F9959-50BE-4EF5-AE61-F01153DF2CC2}"/>
    <dgm:cxn modelId="{6B6C4753-2C42-4D89-AD68-03A23CF1DB7A}" srcId="{53D32845-1ED1-45A4-BEE4-A32C477AFB60}" destId="{DCB53107-1DB1-4211-A108-EA28E71B8216}" srcOrd="1" destOrd="0" parTransId="{06041BF2-6968-4B58-A069-C4DF772FC603}" sibTransId="{7DE276DC-7E4C-4945-B1AC-F235DE1F81DB}"/>
    <dgm:cxn modelId="{0DE8BDBC-CD54-4555-8DC3-C2EE318255DA}" type="presOf" srcId="{741E3020-AA9D-4EDC-AA1B-25DB9AEA04D6}" destId="{705A9783-1E03-4C87-A65F-8668EAAD172A}" srcOrd="0" destOrd="1" presId="urn:microsoft.com/office/officeart/2005/8/layout/chevron2"/>
    <dgm:cxn modelId="{21C04662-D2EA-41AE-864C-AC06DBCBDAD0}" srcId="{C48340BF-22F8-4D8E-A13A-21C955F466FC}" destId="{5342D243-3273-4456-A286-CB8E7DCFAC32}" srcOrd="2" destOrd="0" parTransId="{85D8B971-6618-4E30-98D4-5B8B6022D49F}" sibTransId="{25D9F374-5BB4-408B-B4D7-96C34396A15E}"/>
    <dgm:cxn modelId="{B36B4C38-83AB-444C-A2A0-D1ACA307B440}" type="presOf" srcId="{456FB1C5-448F-4B8B-BBF4-9227D24DD0D7}" destId="{42A97154-8CBB-407A-8C04-7D14EB12068E}" srcOrd="0" destOrd="0" presId="urn:microsoft.com/office/officeart/2005/8/layout/chevron2"/>
    <dgm:cxn modelId="{C34494E9-C8A5-4B14-8169-FE02D21A00BD}" srcId="{FB4B91F0-98C5-4C89-9D8B-1039B06AA52B}" destId="{C48340BF-22F8-4D8E-A13A-21C955F466FC}" srcOrd="2" destOrd="0" parTransId="{3733A5E0-C4B2-4F4E-9165-F8CD060DDB7F}" sibTransId="{EFEF3B88-AC95-47AB-98D3-00961CDAB0E6}"/>
    <dgm:cxn modelId="{9A80B321-4FC6-4BCB-8701-4D3684616463}" type="presOf" srcId="{691AA307-4C5D-468D-B64C-D2AC0C4F495F}" destId="{5C00882C-3C98-4172-8FDF-B7A3AC2AF5CD}" srcOrd="0" destOrd="0" presId="urn:microsoft.com/office/officeart/2005/8/layout/chevron2"/>
    <dgm:cxn modelId="{48BB71A5-AB55-46C0-86B1-FCBFB0718D2C}" srcId="{C48340BF-22F8-4D8E-A13A-21C955F466FC}" destId="{741E3020-AA9D-4EDC-AA1B-25DB9AEA04D6}" srcOrd="1" destOrd="0" parTransId="{743494FF-570F-42BA-A67D-27DD781FDC8B}" sibTransId="{83C36A4B-EDE3-44D0-B623-EE933AA84B28}"/>
    <dgm:cxn modelId="{6394F58E-203F-4932-8CF2-50D29A5BF26C}" type="presOf" srcId="{3E1C58C5-AE0A-427F-ADDB-B133F8A8CC42}" destId="{42A97154-8CBB-407A-8C04-7D14EB12068E}" srcOrd="0" destOrd="2" presId="urn:microsoft.com/office/officeart/2005/8/layout/chevron2"/>
    <dgm:cxn modelId="{2D9410DF-411D-484B-87F4-9B9571994412}" srcId="{FB4B91F0-98C5-4C89-9D8B-1039B06AA52B}" destId="{691AA307-4C5D-468D-B64C-D2AC0C4F495F}" srcOrd="0" destOrd="0" parTransId="{52A97C3F-36A3-4A0D-8BC0-195C2792163F}" sibTransId="{74B072E5-F108-4DFF-86CB-54A1937F048E}"/>
    <dgm:cxn modelId="{252518DB-5F26-4ECC-8FCB-C72053F966EF}" srcId="{691AA307-4C5D-468D-B64C-D2AC0C4F495F}" destId="{456FB1C5-448F-4B8B-BBF4-9227D24DD0D7}" srcOrd="0" destOrd="0" parTransId="{142FB19E-DA31-41BC-892F-8F627F930806}" sibTransId="{B9F456C9-3096-47CE-93E4-F5ABF4F8297D}"/>
    <dgm:cxn modelId="{62582E9C-282B-4E80-A815-35F4486EC636}" srcId="{FB4B91F0-98C5-4C89-9D8B-1039B06AA52B}" destId="{53D32845-1ED1-45A4-BEE4-A32C477AFB60}" srcOrd="1" destOrd="0" parTransId="{60D7CE56-D4F7-4836-B218-4C9DFC9225A4}" sibTransId="{4EEC17C7-2B67-4493-8078-F28EF8C9D5B4}"/>
    <dgm:cxn modelId="{9608F861-5007-47F2-838A-6C70FB721567}" srcId="{53D32845-1ED1-45A4-BEE4-A32C477AFB60}" destId="{245F35D2-3823-4265-BD0F-E3FE88D3092E}" srcOrd="0" destOrd="0" parTransId="{D3E508A6-2FBB-480B-8F65-6B8188C5E509}" sibTransId="{6FBE7A97-7CAA-4C5F-B1C0-16738DCED47E}"/>
    <dgm:cxn modelId="{C282FBF3-94C2-411A-AABD-822702DF2561}" type="presOf" srcId="{245F35D2-3823-4265-BD0F-E3FE88D3092E}" destId="{915D05F4-6383-4837-896B-5F03BB132989}" srcOrd="0" destOrd="0" presId="urn:microsoft.com/office/officeart/2005/8/layout/chevron2"/>
    <dgm:cxn modelId="{D778D138-3757-43F0-9941-50941F92B4AB}" srcId="{53D32845-1ED1-45A4-BEE4-A32C477AFB60}" destId="{96CF50E4-E221-4EF0-901B-A80F0E8E8C95}" srcOrd="2" destOrd="0" parTransId="{DAB56BF3-C00E-4123-8344-CD5FF2C4BD9D}" sibTransId="{7F7E3523-C449-4634-816D-00E357773D83}"/>
    <dgm:cxn modelId="{DDBE24B6-9E30-492E-930A-A8B97D256B3D}" type="presParOf" srcId="{6D516A92-65DE-424E-96BD-354D6430F270}" destId="{E19DB2C5-728A-46D5-A7D9-859A87ADE99A}" srcOrd="0" destOrd="0" presId="urn:microsoft.com/office/officeart/2005/8/layout/chevron2"/>
    <dgm:cxn modelId="{49C1921B-B65C-41AA-8964-9B1A2091D369}" type="presParOf" srcId="{E19DB2C5-728A-46D5-A7D9-859A87ADE99A}" destId="{5C00882C-3C98-4172-8FDF-B7A3AC2AF5CD}" srcOrd="0" destOrd="0" presId="urn:microsoft.com/office/officeart/2005/8/layout/chevron2"/>
    <dgm:cxn modelId="{CD2AD2DE-FE39-4C25-907B-A0D684B846A9}" type="presParOf" srcId="{E19DB2C5-728A-46D5-A7D9-859A87ADE99A}" destId="{42A97154-8CBB-407A-8C04-7D14EB12068E}" srcOrd="1" destOrd="0" presId="urn:microsoft.com/office/officeart/2005/8/layout/chevron2"/>
    <dgm:cxn modelId="{55407A48-2797-485A-9051-BFCD51B0CFF8}" type="presParOf" srcId="{6D516A92-65DE-424E-96BD-354D6430F270}" destId="{3DEE1379-703E-4C0C-A005-62A99AE1B234}" srcOrd="1" destOrd="0" presId="urn:microsoft.com/office/officeart/2005/8/layout/chevron2"/>
    <dgm:cxn modelId="{488BF18D-A864-4C46-95F0-805F4BF512CC}" type="presParOf" srcId="{6D516A92-65DE-424E-96BD-354D6430F270}" destId="{6E8ECE5B-9053-4055-A50E-AB6517A3C1C5}" srcOrd="2" destOrd="0" presId="urn:microsoft.com/office/officeart/2005/8/layout/chevron2"/>
    <dgm:cxn modelId="{F4F06766-6E27-4B82-9836-22B46B963790}" type="presParOf" srcId="{6E8ECE5B-9053-4055-A50E-AB6517A3C1C5}" destId="{26461029-9C82-417D-81C6-AFE39F5837D8}" srcOrd="0" destOrd="0" presId="urn:microsoft.com/office/officeart/2005/8/layout/chevron2"/>
    <dgm:cxn modelId="{A677C5EA-C3BD-4A47-A0BF-DEEB72123F33}" type="presParOf" srcId="{6E8ECE5B-9053-4055-A50E-AB6517A3C1C5}" destId="{915D05F4-6383-4837-896B-5F03BB132989}" srcOrd="1" destOrd="0" presId="urn:microsoft.com/office/officeart/2005/8/layout/chevron2"/>
    <dgm:cxn modelId="{145438C1-5994-49A7-9AD1-FF2958333EE8}" type="presParOf" srcId="{6D516A92-65DE-424E-96BD-354D6430F270}" destId="{4069A15A-088B-46F5-8787-E13D1C5D1547}" srcOrd="3" destOrd="0" presId="urn:microsoft.com/office/officeart/2005/8/layout/chevron2"/>
    <dgm:cxn modelId="{6A787ED6-39E2-419A-B7F1-4DD4586E4A15}" type="presParOf" srcId="{6D516A92-65DE-424E-96BD-354D6430F270}" destId="{F7EF834D-76BE-4B8F-A46A-74310B8A9282}" srcOrd="4" destOrd="0" presId="urn:microsoft.com/office/officeart/2005/8/layout/chevron2"/>
    <dgm:cxn modelId="{83FB1A2E-FC1B-4168-AA1A-1703FB01BC1F}" type="presParOf" srcId="{F7EF834D-76BE-4B8F-A46A-74310B8A9282}" destId="{AA761FED-0F6D-48C8-AC7F-F060E78A2FF5}" srcOrd="0" destOrd="0" presId="urn:microsoft.com/office/officeart/2005/8/layout/chevron2"/>
    <dgm:cxn modelId="{FF1302A9-46E6-42FF-89D4-42D5A111E3DE}" type="presParOf" srcId="{F7EF834D-76BE-4B8F-A46A-74310B8A9282}" destId="{705A9783-1E03-4C87-A65F-8668EAAD172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C00882C-3C98-4172-8FDF-B7A3AC2AF5CD}">
      <dsp:nvSpPr>
        <dsp:cNvPr id="0" name=""/>
        <dsp:cNvSpPr/>
      </dsp:nvSpPr>
      <dsp:spPr>
        <a:xfrm rot="5400000">
          <a:off x="-261264" y="264452"/>
          <a:ext cx="1741760" cy="1219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KNN</a:t>
          </a:r>
          <a:endParaRPr lang="en-US" sz="2600" kern="1200" dirty="0"/>
        </a:p>
      </dsp:txBody>
      <dsp:txXfrm rot="5400000">
        <a:off x="-261264" y="264452"/>
        <a:ext cx="1741760" cy="1219232"/>
      </dsp:txXfrm>
    </dsp:sp>
    <dsp:sp modelId="{42A97154-8CBB-407A-8C04-7D14EB12068E}">
      <dsp:nvSpPr>
        <dsp:cNvPr id="0" name=""/>
        <dsp:cNvSpPr/>
      </dsp:nvSpPr>
      <dsp:spPr>
        <a:xfrm rot="5400000">
          <a:off x="3663044" y="-2440623"/>
          <a:ext cx="1132144" cy="60197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Moderate accuracy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200" kern="1200" dirty="0" smtClean="0"/>
            <a:t>Good performance on small datasets</a:t>
          </a:r>
          <a:endParaRPr lang="en-GB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Slower for large data</a:t>
          </a:r>
          <a:endParaRPr lang="en-US" sz="2200" kern="1200" dirty="0"/>
        </a:p>
      </dsp:txBody>
      <dsp:txXfrm rot="5400000">
        <a:off x="3663044" y="-2440623"/>
        <a:ext cx="1132144" cy="6019767"/>
      </dsp:txXfrm>
    </dsp:sp>
    <dsp:sp modelId="{26461029-9C82-417D-81C6-AFE39F5837D8}">
      <dsp:nvSpPr>
        <dsp:cNvPr id="0" name=""/>
        <dsp:cNvSpPr/>
      </dsp:nvSpPr>
      <dsp:spPr>
        <a:xfrm rot="5400000">
          <a:off x="-261264" y="1813702"/>
          <a:ext cx="1741760" cy="1219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KMEANS</a:t>
          </a:r>
          <a:endParaRPr lang="en-US" sz="2600" kern="1200" dirty="0"/>
        </a:p>
      </dsp:txBody>
      <dsp:txXfrm rot="5400000">
        <a:off x="-261264" y="1813702"/>
        <a:ext cx="1741760" cy="1219232"/>
      </dsp:txXfrm>
    </dsp:sp>
    <dsp:sp modelId="{915D05F4-6383-4837-896B-5F03BB132989}">
      <dsp:nvSpPr>
        <dsp:cNvPr id="0" name=""/>
        <dsp:cNvSpPr/>
      </dsp:nvSpPr>
      <dsp:spPr>
        <a:xfrm rot="5400000">
          <a:off x="3663044" y="-891372"/>
          <a:ext cx="1132144" cy="60197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Identified abnormal transaction clusters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smtClean="0"/>
            <a:t>Useful for anomaly detection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200" kern="1200" dirty="0" smtClean="0"/>
            <a:t>Not ideal for final classification</a:t>
          </a:r>
          <a:endParaRPr lang="en-GB" sz="2200" kern="1200" dirty="0"/>
        </a:p>
      </dsp:txBody>
      <dsp:txXfrm rot="5400000">
        <a:off x="3663044" y="-891372"/>
        <a:ext cx="1132144" cy="6019767"/>
      </dsp:txXfrm>
    </dsp:sp>
    <dsp:sp modelId="{AA761FED-0F6D-48C8-AC7F-F060E78A2FF5}">
      <dsp:nvSpPr>
        <dsp:cNvPr id="0" name=""/>
        <dsp:cNvSpPr/>
      </dsp:nvSpPr>
      <dsp:spPr>
        <a:xfrm rot="5400000">
          <a:off x="-261264" y="3362953"/>
          <a:ext cx="1741760" cy="1219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DT</a:t>
          </a:r>
          <a:endParaRPr lang="en-US" sz="2600" kern="1200" dirty="0"/>
        </a:p>
      </dsp:txBody>
      <dsp:txXfrm rot="5400000">
        <a:off x="-261264" y="3362953"/>
        <a:ext cx="1741760" cy="1219232"/>
      </dsp:txXfrm>
    </dsp:sp>
    <dsp:sp modelId="{705A9783-1E03-4C87-A65F-8668EAAD172A}">
      <dsp:nvSpPr>
        <dsp:cNvPr id="0" name=""/>
        <dsp:cNvSpPr/>
      </dsp:nvSpPr>
      <dsp:spPr>
        <a:xfrm rot="5400000">
          <a:off x="3663044" y="657877"/>
          <a:ext cx="1132144" cy="60197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 smtClean="0"/>
            <a:t>Highest accuracy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smtClean="0"/>
            <a:t>Better precision and recall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2200" kern="1200" dirty="0" smtClean="0"/>
            <a:t>Easy to explain and visualize</a:t>
          </a:r>
          <a:endParaRPr lang="en-GB" sz="2200" kern="1200" dirty="0"/>
        </a:p>
      </dsp:txBody>
      <dsp:txXfrm rot="5400000">
        <a:off x="3663044" y="657877"/>
        <a:ext cx="1132144" cy="6019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E23AEE65-0A73-4010-ABFC-34B636736C82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25B02E1-1327-4AA3-B5BE-8CDE732EC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76470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sz="2200" b="1" dirty="0" smtClean="0"/>
              <a:t>Credit Card Fraud Detection Using Machine Learning</a:t>
            </a:r>
            <a:br>
              <a:rPr lang="en-GB" sz="2200" b="1" dirty="0" smtClean="0"/>
            </a:br>
            <a:r>
              <a:rPr lang="en-GB" sz="2200" b="1" dirty="0" smtClean="0"/>
              <a:t>Algorithms:</a:t>
            </a:r>
            <a:r>
              <a:rPr lang="en-GB" sz="2200" dirty="0" smtClean="0"/>
              <a:t> KNN, K-Means, Decision Tree</a:t>
            </a:r>
            <a:r>
              <a:rPr lang="en-GB" dirty="0" smtClean="0"/>
              <a:t/>
            </a:r>
            <a:br>
              <a:rPr lang="en-GB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2420888"/>
            <a:ext cx="6400800" cy="1752600"/>
          </a:xfrm>
        </p:spPr>
        <p:txBody>
          <a:bodyPr>
            <a:normAutofit/>
          </a:bodyPr>
          <a:lstStyle/>
          <a:p>
            <a:r>
              <a:rPr lang="en-GB" b="1" dirty="0" smtClean="0"/>
              <a:t>Submitted by:</a:t>
            </a:r>
            <a:r>
              <a:rPr lang="en-GB" dirty="0" smtClean="0"/>
              <a:t> </a:t>
            </a:r>
            <a:r>
              <a:rPr lang="en-GB" dirty="0" err="1" smtClean="0"/>
              <a:t>Prashant</a:t>
            </a:r>
            <a:r>
              <a:rPr lang="en-GB" dirty="0" smtClean="0"/>
              <a:t> Kumar</a:t>
            </a:r>
            <a:br>
              <a:rPr lang="en-GB" dirty="0" smtClean="0"/>
            </a:br>
            <a:r>
              <a:rPr lang="en-GB" b="1" dirty="0" smtClean="0"/>
              <a:t>Course:</a:t>
            </a:r>
            <a:r>
              <a:rPr lang="en-GB" dirty="0" smtClean="0"/>
              <a:t> </a:t>
            </a:r>
            <a:r>
              <a:rPr lang="en-GB" dirty="0" err="1" smtClean="0"/>
              <a:t>B.Tech</a:t>
            </a:r>
            <a:r>
              <a:rPr lang="en-GB" dirty="0" smtClean="0"/>
              <a:t> (CSE)</a:t>
            </a:r>
            <a:br>
              <a:rPr lang="en-GB" dirty="0" smtClean="0"/>
            </a:br>
            <a:r>
              <a:rPr lang="en-GB" b="1" dirty="0" smtClean="0"/>
              <a:t>University:</a:t>
            </a:r>
            <a:r>
              <a:rPr lang="en-GB" dirty="0" smtClean="0"/>
              <a:t> </a:t>
            </a:r>
            <a:r>
              <a:rPr lang="en-GB" dirty="0" err="1" smtClean="0"/>
              <a:t>Gopal</a:t>
            </a:r>
            <a:r>
              <a:rPr lang="en-GB" dirty="0" smtClean="0"/>
              <a:t> </a:t>
            </a:r>
            <a:r>
              <a:rPr lang="en-GB" dirty="0" err="1" smtClean="0"/>
              <a:t>Narayan</a:t>
            </a:r>
            <a:r>
              <a:rPr lang="en-GB" dirty="0" smtClean="0"/>
              <a:t> Singh University</a:t>
            </a:r>
            <a:br>
              <a:rPr lang="en-GB" dirty="0" smtClean="0"/>
            </a:br>
            <a:r>
              <a:rPr lang="en-GB" b="1" dirty="0" smtClean="0"/>
              <a:t>Academic Year:</a:t>
            </a:r>
            <a:r>
              <a:rPr lang="en-GB" dirty="0" smtClean="0"/>
              <a:t> 2025–26</a:t>
            </a:r>
            <a:endParaRPr lang="en-US" dirty="0"/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GB" sz="2000" dirty="0" smtClean="0"/>
              <a:t>Rapid growth of </a:t>
            </a:r>
            <a:r>
              <a:rPr lang="en-GB" sz="2000" b="1" dirty="0" smtClean="0"/>
              <a:t>digital payments in India</a:t>
            </a:r>
            <a:r>
              <a:rPr lang="en-GB" sz="2000" dirty="0" smtClean="0"/>
              <a:t> (Credit Cards, UPI, Net Banking)</a:t>
            </a:r>
          </a:p>
          <a:p>
            <a:r>
              <a:rPr lang="en-GB" sz="2000" dirty="0" smtClean="0"/>
              <a:t>Increase in </a:t>
            </a:r>
            <a:r>
              <a:rPr lang="en-GB" sz="2000" b="1" dirty="0" smtClean="0"/>
              <a:t>online financial frauds</a:t>
            </a:r>
            <a:endParaRPr lang="en-GB" sz="2000" dirty="0" smtClean="0"/>
          </a:p>
          <a:p>
            <a:r>
              <a:rPr lang="en-GB" sz="2000" dirty="0" smtClean="0"/>
              <a:t>Manual fraud detection is slow and inaccurate</a:t>
            </a:r>
          </a:p>
          <a:p>
            <a:r>
              <a:rPr lang="en-GB" sz="2000" b="1" dirty="0" smtClean="0"/>
              <a:t>Machine Learning</a:t>
            </a:r>
            <a:r>
              <a:rPr lang="en-GB" sz="2000" dirty="0" smtClean="0"/>
              <a:t> helps detect fraud automatically and efficiently</a:t>
            </a:r>
          </a:p>
          <a:p>
            <a:endParaRPr lang="en-US" dirty="0"/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000" dirty="0" smtClean="0"/>
              <a:t>Credit card fraud causes </a:t>
            </a:r>
            <a:r>
              <a:rPr lang="en-US" sz="2000" b="1" dirty="0" smtClean="0"/>
              <a:t>financial loss and trust issues</a:t>
            </a:r>
            <a:endParaRPr lang="en-US" sz="2000" dirty="0" smtClean="0"/>
          </a:p>
          <a:p>
            <a:r>
              <a:rPr lang="en-US" sz="2000" dirty="0" smtClean="0"/>
              <a:t>Fraud transactions are </a:t>
            </a:r>
            <a:r>
              <a:rPr lang="en-US" sz="2000" b="1" dirty="0" smtClean="0"/>
              <a:t>very rare</a:t>
            </a:r>
            <a:r>
              <a:rPr lang="en-US" sz="2000" dirty="0" smtClean="0"/>
              <a:t> compared to genuine ones</a:t>
            </a:r>
          </a:p>
          <a:p>
            <a:pPr>
              <a:buNone/>
            </a:pPr>
            <a:endParaRPr lang="en-US" sz="2000" dirty="0" smtClean="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660066"/>
                </a:solidFill>
              </a:rPr>
              <a:t>Objective</a:t>
            </a:r>
            <a:r>
              <a:rPr lang="en-US" sz="2000" dirty="0" smtClean="0">
                <a:solidFill>
                  <a:srgbClr val="660066"/>
                </a:solidFill>
              </a:rPr>
              <a:t>:</a:t>
            </a:r>
          </a:p>
          <a:p>
            <a:r>
              <a:rPr lang="en-US" sz="2000" dirty="0" smtClean="0"/>
              <a:t>Detect fraudulent transactions accurately</a:t>
            </a:r>
          </a:p>
          <a:p>
            <a:r>
              <a:rPr lang="en-US" sz="2000" dirty="0" smtClean="0"/>
              <a:t>Minimize false fraud alerts</a:t>
            </a:r>
          </a:p>
          <a:p>
            <a:r>
              <a:rPr lang="en-US" sz="2000" dirty="0" smtClean="0"/>
              <a:t>Improve digital banking security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000" dirty="0" smtClean="0"/>
              <a:t>Analyze credit card transaction data</a:t>
            </a:r>
          </a:p>
          <a:p>
            <a:pPr>
              <a:buNone/>
            </a:pPr>
            <a:r>
              <a:rPr lang="en-US" sz="2000" dirty="0" smtClean="0"/>
              <a:t>    Detect </a:t>
            </a:r>
            <a:r>
              <a:rPr lang="en-US" sz="2000" dirty="0" smtClean="0"/>
              <a:t>fraud using:</a:t>
            </a:r>
          </a:p>
          <a:p>
            <a:r>
              <a:rPr lang="en-US" sz="2000" dirty="0" smtClean="0"/>
              <a:t>K-Nearest Neighbors (KNN)</a:t>
            </a:r>
          </a:p>
          <a:p>
            <a:r>
              <a:rPr lang="en-US" sz="2000" dirty="0" smtClean="0"/>
              <a:t>K-Means Clustering</a:t>
            </a:r>
          </a:p>
          <a:p>
            <a:r>
              <a:rPr lang="en-US" sz="2000" dirty="0" smtClean="0"/>
              <a:t>Decision Tree</a:t>
            </a:r>
          </a:p>
          <a:p>
            <a:r>
              <a:rPr lang="en-US" sz="2000" dirty="0" smtClean="0"/>
              <a:t>Compare model performance</a:t>
            </a:r>
          </a:p>
          <a:p>
            <a:r>
              <a:rPr lang="en-US" sz="2000" dirty="0" smtClean="0"/>
              <a:t>Identify the best algorithm for fraud detection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GB" sz="2000" dirty="0" smtClean="0"/>
              <a:t>Dataset contains </a:t>
            </a:r>
            <a:r>
              <a:rPr lang="en-GB" sz="2000" b="1" dirty="0" smtClean="0"/>
              <a:t>credit card transaction records</a:t>
            </a:r>
            <a:endParaRPr lang="en-GB" sz="2000" dirty="0" smtClean="0"/>
          </a:p>
          <a:p>
            <a:r>
              <a:rPr lang="en-GB" sz="2000" dirty="0" smtClean="0"/>
              <a:t>Features include:</a:t>
            </a:r>
          </a:p>
          <a:p>
            <a:r>
              <a:rPr lang="en-GB" sz="2000" dirty="0" smtClean="0"/>
              <a:t>Transaction amount</a:t>
            </a:r>
          </a:p>
          <a:p>
            <a:r>
              <a:rPr lang="en-GB" sz="2000" dirty="0" smtClean="0"/>
              <a:t>Time of transaction</a:t>
            </a:r>
          </a:p>
          <a:p>
            <a:r>
              <a:rPr lang="en-GB" sz="2000" dirty="0" smtClean="0"/>
              <a:t>Transaction </a:t>
            </a:r>
            <a:r>
              <a:rPr lang="en-GB" sz="2000" dirty="0" err="1" smtClean="0"/>
              <a:t>behavior</a:t>
            </a:r>
            <a:r>
              <a:rPr lang="en-GB" sz="2000" dirty="0" smtClean="0"/>
              <a:t> features</a:t>
            </a:r>
          </a:p>
          <a:p>
            <a:r>
              <a:rPr lang="en-GB" sz="2000" dirty="0" smtClean="0"/>
              <a:t>Target column:</a:t>
            </a:r>
          </a:p>
          <a:p>
            <a:r>
              <a:rPr lang="en-GB" sz="2000" dirty="0" smtClean="0"/>
              <a:t>0 → Genuine transaction</a:t>
            </a:r>
          </a:p>
          <a:p>
            <a:r>
              <a:rPr lang="en-GB" sz="2000" dirty="0" smtClean="0"/>
              <a:t>1 → Fraud transaction</a:t>
            </a:r>
          </a:p>
          <a:p>
            <a:endParaRPr lang="en-US" dirty="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000" dirty="0" smtClean="0"/>
              <a:t>Checked missing values</a:t>
            </a:r>
          </a:p>
          <a:p>
            <a:r>
              <a:rPr lang="en-GB" sz="2000" dirty="0" smtClean="0"/>
              <a:t>Converted categorical data using encoding</a:t>
            </a:r>
          </a:p>
          <a:p>
            <a:r>
              <a:rPr lang="en-GB" sz="2000" dirty="0" smtClean="0"/>
              <a:t>Feature scaling using </a:t>
            </a:r>
            <a:r>
              <a:rPr lang="en-GB" sz="2000" b="1" dirty="0" err="1" smtClean="0"/>
              <a:t>StandardScaler</a:t>
            </a:r>
            <a:endParaRPr lang="en-GB" sz="2000" dirty="0" smtClean="0"/>
          </a:p>
          <a:p>
            <a:r>
              <a:rPr lang="en-GB" sz="2000" dirty="0" smtClean="0"/>
              <a:t>Split dataset into:</a:t>
            </a:r>
          </a:p>
          <a:p>
            <a:r>
              <a:rPr lang="en-GB" sz="2000" dirty="0" smtClean="0"/>
              <a:t>80% Training data</a:t>
            </a:r>
          </a:p>
          <a:p>
            <a:r>
              <a:rPr lang="en-GB" sz="2000" dirty="0" smtClean="0"/>
              <a:t>20% Testing data</a:t>
            </a:r>
          </a:p>
          <a:p>
            <a:endParaRPr lang="en-US" sz="20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K-NEAREST NEIGHBORS (KNN)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000" b="1" dirty="0" smtClean="0"/>
              <a:t>Type:</a:t>
            </a:r>
            <a:r>
              <a:rPr lang="en-GB" sz="2000" dirty="0" smtClean="0"/>
              <a:t> Supervised Learning</a:t>
            </a:r>
          </a:p>
          <a:p>
            <a:r>
              <a:rPr lang="en-GB" sz="2000" b="1" dirty="0" smtClean="0"/>
              <a:t>Working Principle:</a:t>
            </a:r>
            <a:endParaRPr lang="en-GB" sz="2000" dirty="0" smtClean="0"/>
          </a:p>
          <a:p>
            <a:pPr>
              <a:buFont typeface="Wingdings" pitchFamily="2" charset="2"/>
              <a:buChar char="ü"/>
            </a:pPr>
            <a:r>
              <a:rPr lang="en-GB" sz="2000" dirty="0" smtClean="0"/>
              <a:t>Classifies </a:t>
            </a:r>
            <a:r>
              <a:rPr lang="en-GB" sz="2000" dirty="0" smtClean="0"/>
              <a:t>transaction based on nearest </a:t>
            </a:r>
            <a:r>
              <a:rPr lang="en-GB" sz="2000" dirty="0" err="1" smtClean="0"/>
              <a:t>neighbors</a:t>
            </a:r>
            <a:endParaRPr lang="en-GB" sz="2000" dirty="0" smtClean="0"/>
          </a:p>
          <a:p>
            <a:pPr>
              <a:buFont typeface="Wingdings" pitchFamily="2" charset="2"/>
              <a:buChar char="ü"/>
            </a:pPr>
            <a:r>
              <a:rPr lang="en-GB" sz="2000" dirty="0" smtClean="0"/>
              <a:t>Uses </a:t>
            </a:r>
            <a:r>
              <a:rPr lang="en-GB" sz="2000" dirty="0" smtClean="0"/>
              <a:t>distance metrics</a:t>
            </a:r>
          </a:p>
          <a:p>
            <a:r>
              <a:rPr lang="en-GB" sz="2000" b="1" dirty="0" smtClean="0"/>
              <a:t>Advantages:</a:t>
            </a:r>
            <a:endParaRPr lang="en-GB" sz="2000" dirty="0" smtClean="0"/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Simple and intuitive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No training phase</a:t>
            </a:r>
          </a:p>
          <a:p>
            <a:r>
              <a:rPr lang="en-GB" sz="2000" b="1" dirty="0" smtClean="0"/>
              <a:t>Limitations:</a:t>
            </a: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Slow for large datasets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Sensitive to scaling</a:t>
            </a:r>
          </a:p>
          <a:p>
            <a:endParaRPr lang="en-US" sz="2000" dirty="0"/>
          </a:p>
        </p:txBody>
      </p:sp>
    </p:spTree>
  </p:cSld>
  <p:clrMapOvr>
    <a:masterClrMapping/>
  </p:clrMapOvr>
  <p:transition>
    <p:pull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000" b="1" dirty="0" smtClean="0"/>
              <a:t>Type:</a:t>
            </a:r>
            <a:r>
              <a:rPr lang="en-GB" sz="2000" dirty="0" smtClean="0"/>
              <a:t> Unsupervised Learning</a:t>
            </a:r>
          </a:p>
          <a:p>
            <a:r>
              <a:rPr lang="en-GB" sz="2000" b="1" dirty="0" smtClean="0"/>
              <a:t>Working Principle:</a:t>
            </a:r>
            <a:endParaRPr lang="en-GB" sz="2000" dirty="0" smtClean="0"/>
          </a:p>
          <a:p>
            <a:pPr>
              <a:buFont typeface="Wingdings" pitchFamily="2" charset="2"/>
              <a:buChar char="q"/>
            </a:pPr>
            <a:r>
              <a:rPr lang="en-GB" sz="2000" dirty="0" smtClean="0"/>
              <a:t>Groups transactions into clusters</a:t>
            </a:r>
          </a:p>
          <a:p>
            <a:pPr>
              <a:buFont typeface="Wingdings" pitchFamily="2" charset="2"/>
              <a:buChar char="q"/>
            </a:pPr>
            <a:r>
              <a:rPr lang="en-GB" sz="2000" dirty="0" smtClean="0"/>
              <a:t>Fraud appears as anomalous clusters</a:t>
            </a:r>
          </a:p>
          <a:p>
            <a:r>
              <a:rPr lang="en-GB" sz="2000" b="1" dirty="0" smtClean="0"/>
              <a:t>Advantages:</a:t>
            </a:r>
            <a:endParaRPr lang="en-GB" sz="2000" dirty="0" smtClean="0"/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No </a:t>
            </a:r>
            <a:r>
              <a:rPr lang="en-GB" sz="2000" dirty="0" err="1" smtClean="0"/>
              <a:t>labeled</a:t>
            </a:r>
            <a:r>
              <a:rPr lang="en-GB" sz="2000" dirty="0" smtClean="0"/>
              <a:t> data required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Useful for anomaly detection</a:t>
            </a:r>
          </a:p>
          <a:p>
            <a:r>
              <a:rPr lang="en-GB" sz="2000" b="1" dirty="0" smtClean="0"/>
              <a:t>Limitations:</a:t>
            </a: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Cannot directly classify fraud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Needs post-analysis</a:t>
            </a:r>
          </a:p>
          <a:p>
            <a:endParaRPr lang="en-US" sz="2000" dirty="0"/>
          </a:p>
        </p:txBody>
      </p:sp>
    </p:spTree>
  </p:cSld>
  <p:clrMapOvr>
    <a:masterClrMapping/>
  </p:clrMapOvr>
  <p:transition>
    <p:pull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000" b="1" dirty="0" smtClean="0"/>
              <a:t>Type:</a:t>
            </a:r>
            <a:r>
              <a:rPr lang="en-GB" sz="2000" dirty="0" smtClean="0"/>
              <a:t> Supervised Learning</a:t>
            </a:r>
          </a:p>
          <a:p>
            <a:r>
              <a:rPr lang="en-GB" sz="2000" b="1" dirty="0" smtClean="0"/>
              <a:t>Working Principle:</a:t>
            </a:r>
            <a:endParaRPr lang="en-GB" sz="2000" dirty="0" smtClean="0"/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Uses rule-based decisions</a:t>
            </a:r>
          </a:p>
          <a:p>
            <a:pPr>
              <a:buFont typeface="Wingdings" pitchFamily="2" charset="2"/>
              <a:buChar char="Ø"/>
            </a:pPr>
            <a:r>
              <a:rPr lang="en-GB" sz="2000" dirty="0" smtClean="0"/>
              <a:t>If-else conditions for classification</a:t>
            </a:r>
          </a:p>
          <a:p>
            <a:r>
              <a:rPr lang="en-GB" sz="2000" b="1" dirty="0" smtClean="0"/>
              <a:t>Advantages:</a:t>
            </a: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Easy to interpret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Fast prediction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Transparent (important for RBI audits)</a:t>
            </a:r>
          </a:p>
          <a:p>
            <a:r>
              <a:rPr lang="en-GB" sz="2000" b="1" dirty="0" smtClean="0"/>
              <a:t>Limitations:</a:t>
            </a:r>
            <a:endParaRPr lang="en-GB" sz="2000" dirty="0" smtClean="0"/>
          </a:p>
          <a:p>
            <a:pPr>
              <a:buFont typeface="Wingdings" pitchFamily="2" charset="2"/>
              <a:buChar char="q"/>
            </a:pPr>
            <a:r>
              <a:rPr lang="en-GB" sz="2000" dirty="0" err="1" smtClean="0"/>
              <a:t>Overfitting</a:t>
            </a:r>
            <a:r>
              <a:rPr lang="en-GB" sz="2000" dirty="0" smtClean="0"/>
              <a:t> if tree is too deep</a:t>
            </a:r>
          </a:p>
          <a:p>
            <a:endParaRPr lang="en-US" sz="2000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000" dirty="0" smtClean="0"/>
              <a:t>Python used for implementation</a:t>
            </a:r>
          </a:p>
          <a:p>
            <a:pPr>
              <a:buNone/>
            </a:pPr>
            <a:r>
              <a:rPr lang="en-GB" sz="2000" dirty="0" smtClean="0"/>
              <a:t> Libraries</a:t>
            </a:r>
            <a:r>
              <a:rPr lang="en-GB" sz="2000" dirty="0" smtClean="0"/>
              <a:t>:</a:t>
            </a:r>
          </a:p>
          <a:p>
            <a:r>
              <a:rPr lang="en-GB" sz="2000" dirty="0" smtClean="0"/>
              <a:t>Pandas, </a:t>
            </a:r>
            <a:r>
              <a:rPr lang="en-GB" sz="2000" dirty="0" err="1" smtClean="0"/>
              <a:t>NumPy</a:t>
            </a:r>
            <a:endParaRPr lang="en-GB" sz="2000" dirty="0" smtClean="0"/>
          </a:p>
          <a:p>
            <a:r>
              <a:rPr lang="en-GB" sz="2000" dirty="0" err="1" smtClean="0"/>
              <a:t>Matplotlib</a:t>
            </a:r>
            <a:r>
              <a:rPr lang="en-GB" sz="2000" dirty="0" smtClean="0"/>
              <a:t>, </a:t>
            </a:r>
            <a:r>
              <a:rPr lang="en-GB" sz="2000" dirty="0" err="1" smtClean="0"/>
              <a:t>Seaborn</a:t>
            </a:r>
            <a:endParaRPr lang="en-GB" sz="2000" dirty="0" smtClean="0"/>
          </a:p>
          <a:p>
            <a:r>
              <a:rPr lang="en-GB" sz="2000" dirty="0" err="1" smtClean="0"/>
              <a:t>Scikit</a:t>
            </a:r>
            <a:r>
              <a:rPr lang="en-GB" sz="2000" dirty="0" smtClean="0"/>
              <a:t>-Learn</a:t>
            </a:r>
          </a:p>
          <a:p>
            <a:r>
              <a:rPr lang="en-GB" sz="2000" dirty="0" smtClean="0"/>
              <a:t>Models trained and tested individually</a:t>
            </a:r>
          </a:p>
          <a:p>
            <a:r>
              <a:rPr lang="en-GB" sz="2000" dirty="0" smtClean="0"/>
              <a:t>Performance compared using metrics</a:t>
            </a:r>
          </a:p>
          <a:p>
            <a:endParaRPr lang="en-US" sz="2000" dirty="0"/>
          </a:p>
        </p:txBody>
      </p: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9725"/>
          <a:ext cx="7239000" cy="484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9512" y="2060848"/>
          <a:ext cx="7239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2413000"/>
                <a:gridCol w="241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Interpretability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0.9995435553526912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Very Hi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K-Means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0.9995435453526912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Moderate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0.9994557775359011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Slight 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31</TotalTime>
  <Words>366</Words>
  <Application>Microsoft Office PowerPoint</Application>
  <PresentationFormat>On-screen Show (4:3)</PresentationFormat>
  <Paragraphs>106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Opulent</vt:lpstr>
      <vt:lpstr>Credit Card Fraud Detection Using Machine Learning Algorithms: KNN, K-Means, Decision Tree </vt:lpstr>
      <vt:lpstr>INTRODUCTION</vt:lpstr>
      <vt:lpstr>PROBLEM STATEMENT</vt:lpstr>
      <vt:lpstr>OBJECTIVES OF THE PROJECT</vt:lpstr>
      <vt:lpstr>DATASET DESCRIPTION</vt:lpstr>
      <vt:lpstr>DATA PREPROCESSING</vt:lpstr>
      <vt:lpstr>K-NEAREST NEIGHBORS (KNN)</vt:lpstr>
      <vt:lpstr>K-MEANS CLUSTERING</vt:lpstr>
      <vt:lpstr>DECISION TREE CLASSIFIER</vt:lpstr>
      <vt:lpstr>MODEL IMPLEMENTATION</vt:lpstr>
      <vt:lpstr>RESULTS </vt:lpstr>
      <vt:lpstr>MODEL COMPARISON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 Algorithms: KNN, K-Means, Decision Tree</dc:title>
  <dc:creator>DELL</dc:creator>
  <cp:lastModifiedBy>DELL</cp:lastModifiedBy>
  <cp:revision>11</cp:revision>
  <dcterms:created xsi:type="dcterms:W3CDTF">2026-01-17T06:44:12Z</dcterms:created>
  <dcterms:modified xsi:type="dcterms:W3CDTF">2026-01-17T14:47:40Z</dcterms:modified>
</cp:coreProperties>
</file>